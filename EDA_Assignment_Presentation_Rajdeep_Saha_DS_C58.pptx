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9" r:id="rId2"/>
    <p:sldId id="257" r:id="rId3"/>
    <p:sldId id="258" r:id="rId4"/>
    <p:sldId id="259" r:id="rId5"/>
    <p:sldId id="267" r:id="rId6"/>
    <p:sldId id="260" r:id="rId7"/>
    <p:sldId id="261" r:id="rId8"/>
    <p:sldId id="262" r:id="rId9"/>
    <p:sldId id="263" r:id="rId10"/>
    <p:sldId id="264" r:id="rId11"/>
    <p:sldId id="265" r:id="rId12"/>
    <p:sldId id="266"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1" d="100"/>
          <a:sy n="71" d="100"/>
        </p:scale>
        <p:origin x="408" y="30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503E3-5F41-7B34-DBB9-9623F8B6628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4E4BBDF-CC3B-079E-3950-214A9A2D7E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2BDCCA3-1B6D-CFEC-8F0E-C5974DF57953}"/>
              </a:ext>
            </a:extLst>
          </p:cNvPr>
          <p:cNvSpPr>
            <a:spLocks noGrp="1"/>
          </p:cNvSpPr>
          <p:nvPr>
            <p:ph type="dt" sz="half" idx="10"/>
          </p:nvPr>
        </p:nvSpPr>
        <p:spPr/>
        <p:txBody>
          <a:bodyPr/>
          <a:lstStyle/>
          <a:p>
            <a:fld id="{D222CDAF-DD54-4BDC-B6C4-E3DBEF52C5BE}" type="datetimeFigureOut">
              <a:rPr lang="en-IN" smtClean="0"/>
              <a:t>26-09-2023</a:t>
            </a:fld>
            <a:endParaRPr lang="en-IN"/>
          </a:p>
        </p:txBody>
      </p:sp>
      <p:sp>
        <p:nvSpPr>
          <p:cNvPr id="5" name="Footer Placeholder 4">
            <a:extLst>
              <a:ext uri="{FF2B5EF4-FFF2-40B4-BE49-F238E27FC236}">
                <a16:creationId xmlns:a16="http://schemas.microsoft.com/office/drawing/2014/main" id="{E5402B0B-1F41-44BB-3CFA-32D4485CB1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10B5C9-6584-101C-B9D8-704DD8726933}"/>
              </a:ext>
            </a:extLst>
          </p:cNvPr>
          <p:cNvSpPr>
            <a:spLocks noGrp="1"/>
          </p:cNvSpPr>
          <p:nvPr>
            <p:ph type="sldNum" sz="quarter" idx="12"/>
          </p:nvPr>
        </p:nvSpPr>
        <p:spPr/>
        <p:txBody>
          <a:bodyPr/>
          <a:lstStyle/>
          <a:p>
            <a:fld id="{C7404261-627F-43C0-9994-9863F0BBF7BF}" type="slidenum">
              <a:rPr lang="en-IN" smtClean="0"/>
              <a:t>‹#›</a:t>
            </a:fld>
            <a:endParaRPr lang="en-IN"/>
          </a:p>
        </p:txBody>
      </p:sp>
    </p:spTree>
    <p:extLst>
      <p:ext uri="{BB962C8B-B14F-4D97-AF65-F5344CB8AC3E}">
        <p14:creationId xmlns:p14="http://schemas.microsoft.com/office/powerpoint/2010/main" val="41451170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BA0A7-66FD-8A3E-1307-5DD47E54B40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D9486AA-E80A-CD14-0933-15068643EC1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AAB784-F410-F999-C245-9CB28FA38B06}"/>
              </a:ext>
            </a:extLst>
          </p:cNvPr>
          <p:cNvSpPr>
            <a:spLocks noGrp="1"/>
          </p:cNvSpPr>
          <p:nvPr>
            <p:ph type="dt" sz="half" idx="10"/>
          </p:nvPr>
        </p:nvSpPr>
        <p:spPr/>
        <p:txBody>
          <a:bodyPr/>
          <a:lstStyle/>
          <a:p>
            <a:fld id="{D222CDAF-DD54-4BDC-B6C4-E3DBEF52C5BE}" type="datetimeFigureOut">
              <a:rPr lang="en-IN" smtClean="0"/>
              <a:t>26-09-2023</a:t>
            </a:fld>
            <a:endParaRPr lang="en-IN"/>
          </a:p>
        </p:txBody>
      </p:sp>
      <p:sp>
        <p:nvSpPr>
          <p:cNvPr id="5" name="Footer Placeholder 4">
            <a:extLst>
              <a:ext uri="{FF2B5EF4-FFF2-40B4-BE49-F238E27FC236}">
                <a16:creationId xmlns:a16="http://schemas.microsoft.com/office/drawing/2014/main" id="{8FA48576-9EE7-CB8B-582A-3EB5C3D6E9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DA0186-24D4-F72A-D90B-F4A6A2D7DB01}"/>
              </a:ext>
            </a:extLst>
          </p:cNvPr>
          <p:cNvSpPr>
            <a:spLocks noGrp="1"/>
          </p:cNvSpPr>
          <p:nvPr>
            <p:ph type="sldNum" sz="quarter" idx="12"/>
          </p:nvPr>
        </p:nvSpPr>
        <p:spPr/>
        <p:txBody>
          <a:bodyPr/>
          <a:lstStyle/>
          <a:p>
            <a:fld id="{C7404261-627F-43C0-9994-9863F0BBF7BF}" type="slidenum">
              <a:rPr lang="en-IN" smtClean="0"/>
              <a:t>‹#›</a:t>
            </a:fld>
            <a:endParaRPr lang="en-IN"/>
          </a:p>
        </p:txBody>
      </p:sp>
    </p:spTree>
    <p:extLst>
      <p:ext uri="{BB962C8B-B14F-4D97-AF65-F5344CB8AC3E}">
        <p14:creationId xmlns:p14="http://schemas.microsoft.com/office/powerpoint/2010/main" val="10942262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7D45E-6EDD-1C6A-2072-ADE915720B1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2EB4F02-3E7B-B201-DD88-939F71A573D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C41D59-28A5-5E47-B241-610FBCA6031D}"/>
              </a:ext>
            </a:extLst>
          </p:cNvPr>
          <p:cNvSpPr>
            <a:spLocks noGrp="1"/>
          </p:cNvSpPr>
          <p:nvPr>
            <p:ph type="dt" sz="half" idx="10"/>
          </p:nvPr>
        </p:nvSpPr>
        <p:spPr/>
        <p:txBody>
          <a:bodyPr/>
          <a:lstStyle/>
          <a:p>
            <a:fld id="{D222CDAF-DD54-4BDC-B6C4-E3DBEF52C5BE}" type="datetimeFigureOut">
              <a:rPr lang="en-IN" smtClean="0"/>
              <a:t>26-09-2023</a:t>
            </a:fld>
            <a:endParaRPr lang="en-IN"/>
          </a:p>
        </p:txBody>
      </p:sp>
      <p:sp>
        <p:nvSpPr>
          <p:cNvPr id="5" name="Footer Placeholder 4">
            <a:extLst>
              <a:ext uri="{FF2B5EF4-FFF2-40B4-BE49-F238E27FC236}">
                <a16:creationId xmlns:a16="http://schemas.microsoft.com/office/drawing/2014/main" id="{3DEF578B-B3E9-1EED-B765-A903261C62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7282E5-77AF-0A61-5129-F4CDA220FA15}"/>
              </a:ext>
            </a:extLst>
          </p:cNvPr>
          <p:cNvSpPr>
            <a:spLocks noGrp="1"/>
          </p:cNvSpPr>
          <p:nvPr>
            <p:ph type="sldNum" sz="quarter" idx="12"/>
          </p:nvPr>
        </p:nvSpPr>
        <p:spPr/>
        <p:txBody>
          <a:bodyPr/>
          <a:lstStyle/>
          <a:p>
            <a:fld id="{C7404261-627F-43C0-9994-9863F0BBF7BF}" type="slidenum">
              <a:rPr lang="en-IN" smtClean="0"/>
              <a:t>‹#›</a:t>
            </a:fld>
            <a:endParaRPr lang="en-IN"/>
          </a:p>
        </p:txBody>
      </p:sp>
    </p:spTree>
    <p:extLst>
      <p:ext uri="{BB962C8B-B14F-4D97-AF65-F5344CB8AC3E}">
        <p14:creationId xmlns:p14="http://schemas.microsoft.com/office/powerpoint/2010/main" val="2425552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3FC4B-0D77-EE36-E7A7-D886ABA5F86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38A7867-A3DC-1614-2B98-2B86C6D7424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8058D08-0763-AACE-81EA-4FFC58880B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DE5E471-2D55-3119-E45C-82D9ACEA2E94}"/>
              </a:ext>
            </a:extLst>
          </p:cNvPr>
          <p:cNvSpPr>
            <a:spLocks noGrp="1"/>
          </p:cNvSpPr>
          <p:nvPr>
            <p:ph type="dt" sz="half" idx="10"/>
          </p:nvPr>
        </p:nvSpPr>
        <p:spPr/>
        <p:txBody>
          <a:bodyPr/>
          <a:lstStyle/>
          <a:p>
            <a:fld id="{D222CDAF-DD54-4BDC-B6C4-E3DBEF52C5BE}" type="datetimeFigureOut">
              <a:rPr lang="en-IN" smtClean="0"/>
              <a:t>26-09-2023</a:t>
            </a:fld>
            <a:endParaRPr lang="en-IN"/>
          </a:p>
        </p:txBody>
      </p:sp>
      <p:sp>
        <p:nvSpPr>
          <p:cNvPr id="6" name="Footer Placeholder 5">
            <a:extLst>
              <a:ext uri="{FF2B5EF4-FFF2-40B4-BE49-F238E27FC236}">
                <a16:creationId xmlns:a16="http://schemas.microsoft.com/office/drawing/2014/main" id="{87F64943-A883-4508-3D99-A63A9AF63AE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5EC28D-3E02-6F3D-7185-7005A760BB18}"/>
              </a:ext>
            </a:extLst>
          </p:cNvPr>
          <p:cNvSpPr>
            <a:spLocks noGrp="1"/>
          </p:cNvSpPr>
          <p:nvPr>
            <p:ph type="sldNum" sz="quarter" idx="12"/>
          </p:nvPr>
        </p:nvSpPr>
        <p:spPr/>
        <p:txBody>
          <a:bodyPr/>
          <a:lstStyle/>
          <a:p>
            <a:fld id="{C7404261-627F-43C0-9994-9863F0BBF7BF}" type="slidenum">
              <a:rPr lang="en-IN" smtClean="0"/>
              <a:t>‹#›</a:t>
            </a:fld>
            <a:endParaRPr lang="en-IN"/>
          </a:p>
        </p:txBody>
      </p:sp>
    </p:spTree>
    <p:extLst>
      <p:ext uri="{BB962C8B-B14F-4D97-AF65-F5344CB8AC3E}">
        <p14:creationId xmlns:p14="http://schemas.microsoft.com/office/powerpoint/2010/main" val="7659936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77CF0-451A-1AD2-1D76-7D8A3DAC613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CC630C6-9D7A-1AC6-CF02-DAD020EE12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A799140-25C8-792E-8998-8A52C5C1B5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C50BD78-1EB3-7FD9-49B9-9C98693C85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6FA267-F9BB-9B13-FC39-2758F49C89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85E928A-44B3-6F16-6C67-E415EBBCB0EF}"/>
              </a:ext>
            </a:extLst>
          </p:cNvPr>
          <p:cNvSpPr>
            <a:spLocks noGrp="1"/>
          </p:cNvSpPr>
          <p:nvPr>
            <p:ph type="dt" sz="half" idx="10"/>
          </p:nvPr>
        </p:nvSpPr>
        <p:spPr/>
        <p:txBody>
          <a:bodyPr/>
          <a:lstStyle/>
          <a:p>
            <a:fld id="{D222CDAF-DD54-4BDC-B6C4-E3DBEF52C5BE}" type="datetimeFigureOut">
              <a:rPr lang="en-IN" smtClean="0"/>
              <a:t>26-09-2023</a:t>
            </a:fld>
            <a:endParaRPr lang="en-IN"/>
          </a:p>
        </p:txBody>
      </p:sp>
      <p:sp>
        <p:nvSpPr>
          <p:cNvPr id="8" name="Footer Placeholder 7">
            <a:extLst>
              <a:ext uri="{FF2B5EF4-FFF2-40B4-BE49-F238E27FC236}">
                <a16:creationId xmlns:a16="http://schemas.microsoft.com/office/drawing/2014/main" id="{0A3C58C1-A7A6-8F06-0CE3-C53D1BAA04F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C0B5231-3D94-9C2C-80E4-7A1B83653222}"/>
              </a:ext>
            </a:extLst>
          </p:cNvPr>
          <p:cNvSpPr>
            <a:spLocks noGrp="1"/>
          </p:cNvSpPr>
          <p:nvPr>
            <p:ph type="sldNum" sz="quarter" idx="12"/>
          </p:nvPr>
        </p:nvSpPr>
        <p:spPr/>
        <p:txBody>
          <a:bodyPr/>
          <a:lstStyle/>
          <a:p>
            <a:fld id="{C7404261-627F-43C0-9994-9863F0BBF7BF}" type="slidenum">
              <a:rPr lang="en-IN" smtClean="0"/>
              <a:t>‹#›</a:t>
            </a:fld>
            <a:endParaRPr lang="en-IN"/>
          </a:p>
        </p:txBody>
      </p:sp>
    </p:spTree>
    <p:extLst>
      <p:ext uri="{BB962C8B-B14F-4D97-AF65-F5344CB8AC3E}">
        <p14:creationId xmlns:p14="http://schemas.microsoft.com/office/powerpoint/2010/main" val="25190743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2E4CC-7CE1-0B5F-925C-F1FC606BE81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E584504-F942-1195-C941-34430407C65A}"/>
              </a:ext>
            </a:extLst>
          </p:cNvPr>
          <p:cNvSpPr>
            <a:spLocks noGrp="1"/>
          </p:cNvSpPr>
          <p:nvPr>
            <p:ph type="dt" sz="half" idx="10"/>
          </p:nvPr>
        </p:nvSpPr>
        <p:spPr/>
        <p:txBody>
          <a:bodyPr/>
          <a:lstStyle/>
          <a:p>
            <a:fld id="{D222CDAF-DD54-4BDC-B6C4-E3DBEF52C5BE}" type="datetimeFigureOut">
              <a:rPr lang="en-IN" smtClean="0"/>
              <a:t>26-09-2023</a:t>
            </a:fld>
            <a:endParaRPr lang="en-IN"/>
          </a:p>
        </p:txBody>
      </p:sp>
      <p:sp>
        <p:nvSpPr>
          <p:cNvPr id="4" name="Footer Placeholder 3">
            <a:extLst>
              <a:ext uri="{FF2B5EF4-FFF2-40B4-BE49-F238E27FC236}">
                <a16:creationId xmlns:a16="http://schemas.microsoft.com/office/drawing/2014/main" id="{F41675AB-46B5-316C-7A7E-AB62701B9A6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9B6BB5A-6DF8-4A6B-DF6F-0E4B7B6741B3}"/>
              </a:ext>
            </a:extLst>
          </p:cNvPr>
          <p:cNvSpPr>
            <a:spLocks noGrp="1"/>
          </p:cNvSpPr>
          <p:nvPr>
            <p:ph type="sldNum" sz="quarter" idx="12"/>
          </p:nvPr>
        </p:nvSpPr>
        <p:spPr/>
        <p:txBody>
          <a:bodyPr/>
          <a:lstStyle/>
          <a:p>
            <a:fld id="{C7404261-627F-43C0-9994-9863F0BBF7BF}" type="slidenum">
              <a:rPr lang="en-IN" smtClean="0"/>
              <a:t>‹#›</a:t>
            </a:fld>
            <a:endParaRPr lang="en-IN"/>
          </a:p>
        </p:txBody>
      </p:sp>
    </p:spTree>
    <p:extLst>
      <p:ext uri="{BB962C8B-B14F-4D97-AF65-F5344CB8AC3E}">
        <p14:creationId xmlns:p14="http://schemas.microsoft.com/office/powerpoint/2010/main" val="3046372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6A7C052-9533-7D2A-389F-E3FDF2BD265C}"/>
              </a:ext>
            </a:extLst>
          </p:cNvPr>
          <p:cNvSpPr>
            <a:spLocks noGrp="1"/>
          </p:cNvSpPr>
          <p:nvPr>
            <p:ph type="dt" sz="half" idx="10"/>
          </p:nvPr>
        </p:nvSpPr>
        <p:spPr/>
        <p:txBody>
          <a:bodyPr/>
          <a:lstStyle/>
          <a:p>
            <a:fld id="{D222CDAF-DD54-4BDC-B6C4-E3DBEF52C5BE}" type="datetimeFigureOut">
              <a:rPr lang="en-IN" smtClean="0"/>
              <a:t>26-09-2023</a:t>
            </a:fld>
            <a:endParaRPr lang="en-IN"/>
          </a:p>
        </p:txBody>
      </p:sp>
      <p:sp>
        <p:nvSpPr>
          <p:cNvPr id="3" name="Footer Placeholder 2">
            <a:extLst>
              <a:ext uri="{FF2B5EF4-FFF2-40B4-BE49-F238E27FC236}">
                <a16:creationId xmlns:a16="http://schemas.microsoft.com/office/drawing/2014/main" id="{68430086-A73F-0C6C-C5A6-608832DFFD5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37FEDD8-623B-FFBB-9765-138DF8DEFCB9}"/>
              </a:ext>
            </a:extLst>
          </p:cNvPr>
          <p:cNvSpPr>
            <a:spLocks noGrp="1"/>
          </p:cNvSpPr>
          <p:nvPr>
            <p:ph type="sldNum" sz="quarter" idx="12"/>
          </p:nvPr>
        </p:nvSpPr>
        <p:spPr/>
        <p:txBody>
          <a:bodyPr/>
          <a:lstStyle/>
          <a:p>
            <a:fld id="{C7404261-627F-43C0-9994-9863F0BBF7BF}" type="slidenum">
              <a:rPr lang="en-IN" smtClean="0"/>
              <a:t>‹#›</a:t>
            </a:fld>
            <a:endParaRPr lang="en-IN"/>
          </a:p>
        </p:txBody>
      </p:sp>
    </p:spTree>
    <p:extLst>
      <p:ext uri="{BB962C8B-B14F-4D97-AF65-F5344CB8AC3E}">
        <p14:creationId xmlns:p14="http://schemas.microsoft.com/office/powerpoint/2010/main" val="402651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21CCB-EE4E-9996-4E0D-5202E46C39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9D985B1-C155-3E17-E52C-A55AD2A51C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AF791A6-9CC2-C1EF-8C56-35890A885A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D8CBBA-E15E-F4B2-FB5B-95C40973AC01}"/>
              </a:ext>
            </a:extLst>
          </p:cNvPr>
          <p:cNvSpPr>
            <a:spLocks noGrp="1"/>
          </p:cNvSpPr>
          <p:nvPr>
            <p:ph type="dt" sz="half" idx="10"/>
          </p:nvPr>
        </p:nvSpPr>
        <p:spPr/>
        <p:txBody>
          <a:bodyPr/>
          <a:lstStyle/>
          <a:p>
            <a:fld id="{D222CDAF-DD54-4BDC-B6C4-E3DBEF52C5BE}" type="datetimeFigureOut">
              <a:rPr lang="en-IN" smtClean="0"/>
              <a:t>26-09-2023</a:t>
            </a:fld>
            <a:endParaRPr lang="en-IN"/>
          </a:p>
        </p:txBody>
      </p:sp>
      <p:sp>
        <p:nvSpPr>
          <p:cNvPr id="6" name="Footer Placeholder 5">
            <a:extLst>
              <a:ext uri="{FF2B5EF4-FFF2-40B4-BE49-F238E27FC236}">
                <a16:creationId xmlns:a16="http://schemas.microsoft.com/office/drawing/2014/main" id="{2C2DB500-073A-5455-D6F8-2A8139BB25C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8A991F4-99DE-1863-3AB2-782F94DEE863}"/>
              </a:ext>
            </a:extLst>
          </p:cNvPr>
          <p:cNvSpPr>
            <a:spLocks noGrp="1"/>
          </p:cNvSpPr>
          <p:nvPr>
            <p:ph type="sldNum" sz="quarter" idx="12"/>
          </p:nvPr>
        </p:nvSpPr>
        <p:spPr/>
        <p:txBody>
          <a:bodyPr/>
          <a:lstStyle/>
          <a:p>
            <a:fld id="{C7404261-627F-43C0-9994-9863F0BBF7BF}" type="slidenum">
              <a:rPr lang="en-IN" smtClean="0"/>
              <a:t>‹#›</a:t>
            </a:fld>
            <a:endParaRPr lang="en-IN"/>
          </a:p>
        </p:txBody>
      </p:sp>
    </p:spTree>
    <p:extLst>
      <p:ext uri="{BB962C8B-B14F-4D97-AF65-F5344CB8AC3E}">
        <p14:creationId xmlns:p14="http://schemas.microsoft.com/office/powerpoint/2010/main" val="310917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70955-5AD4-FD6A-80B9-9D5C9A7EE1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C06C3D4-A3A3-6E60-9DDC-90F2770575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B80F637-EBD0-E3CF-9BBE-A01A3DFEC4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642771-A190-E95B-89BF-8BA2DBF9AF88}"/>
              </a:ext>
            </a:extLst>
          </p:cNvPr>
          <p:cNvSpPr>
            <a:spLocks noGrp="1"/>
          </p:cNvSpPr>
          <p:nvPr>
            <p:ph type="dt" sz="half" idx="10"/>
          </p:nvPr>
        </p:nvSpPr>
        <p:spPr/>
        <p:txBody>
          <a:bodyPr/>
          <a:lstStyle/>
          <a:p>
            <a:fld id="{D222CDAF-DD54-4BDC-B6C4-E3DBEF52C5BE}" type="datetimeFigureOut">
              <a:rPr lang="en-IN" smtClean="0"/>
              <a:t>26-09-2023</a:t>
            </a:fld>
            <a:endParaRPr lang="en-IN"/>
          </a:p>
        </p:txBody>
      </p:sp>
      <p:sp>
        <p:nvSpPr>
          <p:cNvPr id="6" name="Footer Placeholder 5">
            <a:extLst>
              <a:ext uri="{FF2B5EF4-FFF2-40B4-BE49-F238E27FC236}">
                <a16:creationId xmlns:a16="http://schemas.microsoft.com/office/drawing/2014/main" id="{F38620EA-F967-7EE6-2D94-F0CF4D63554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81453B6-1425-E76C-461C-793F377925FB}"/>
              </a:ext>
            </a:extLst>
          </p:cNvPr>
          <p:cNvSpPr>
            <a:spLocks noGrp="1"/>
          </p:cNvSpPr>
          <p:nvPr>
            <p:ph type="sldNum" sz="quarter" idx="12"/>
          </p:nvPr>
        </p:nvSpPr>
        <p:spPr/>
        <p:txBody>
          <a:bodyPr/>
          <a:lstStyle/>
          <a:p>
            <a:fld id="{C7404261-627F-43C0-9994-9863F0BBF7BF}" type="slidenum">
              <a:rPr lang="en-IN" smtClean="0"/>
              <a:t>‹#›</a:t>
            </a:fld>
            <a:endParaRPr lang="en-IN"/>
          </a:p>
        </p:txBody>
      </p:sp>
    </p:spTree>
    <p:extLst>
      <p:ext uri="{BB962C8B-B14F-4D97-AF65-F5344CB8AC3E}">
        <p14:creationId xmlns:p14="http://schemas.microsoft.com/office/powerpoint/2010/main" val="3968796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E57B6-447D-33DC-0708-3421EA807DB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DB5513-1DF2-8E50-B2BC-ED9300379F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E9D4342-AFF3-990E-C9CA-A83783B0D1D8}"/>
              </a:ext>
            </a:extLst>
          </p:cNvPr>
          <p:cNvSpPr>
            <a:spLocks noGrp="1"/>
          </p:cNvSpPr>
          <p:nvPr>
            <p:ph type="dt" sz="half" idx="10"/>
          </p:nvPr>
        </p:nvSpPr>
        <p:spPr/>
        <p:txBody>
          <a:bodyPr/>
          <a:lstStyle/>
          <a:p>
            <a:fld id="{D222CDAF-DD54-4BDC-B6C4-E3DBEF52C5BE}" type="datetimeFigureOut">
              <a:rPr lang="en-IN" smtClean="0"/>
              <a:t>26-09-2023</a:t>
            </a:fld>
            <a:endParaRPr lang="en-IN"/>
          </a:p>
        </p:txBody>
      </p:sp>
      <p:sp>
        <p:nvSpPr>
          <p:cNvPr id="5" name="Footer Placeholder 4">
            <a:extLst>
              <a:ext uri="{FF2B5EF4-FFF2-40B4-BE49-F238E27FC236}">
                <a16:creationId xmlns:a16="http://schemas.microsoft.com/office/drawing/2014/main" id="{905C2F4A-0171-E2D7-B484-4C4314A267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C8506F-5C58-8FA9-5123-F7767A97140D}"/>
              </a:ext>
            </a:extLst>
          </p:cNvPr>
          <p:cNvSpPr>
            <a:spLocks noGrp="1"/>
          </p:cNvSpPr>
          <p:nvPr>
            <p:ph type="sldNum" sz="quarter" idx="12"/>
          </p:nvPr>
        </p:nvSpPr>
        <p:spPr/>
        <p:txBody>
          <a:bodyPr/>
          <a:lstStyle/>
          <a:p>
            <a:fld id="{C7404261-627F-43C0-9994-9863F0BBF7BF}" type="slidenum">
              <a:rPr lang="en-IN" smtClean="0"/>
              <a:t>‹#›</a:t>
            </a:fld>
            <a:endParaRPr lang="en-IN"/>
          </a:p>
        </p:txBody>
      </p:sp>
    </p:spTree>
    <p:extLst>
      <p:ext uri="{BB962C8B-B14F-4D97-AF65-F5344CB8AC3E}">
        <p14:creationId xmlns:p14="http://schemas.microsoft.com/office/powerpoint/2010/main" val="24351478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D1F5E6-7747-5375-5730-C10A718774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0866854-E482-0EFE-6720-F6BCDCB9FB4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B0F600-3D0D-1F0E-B66C-F2C5EE4E9D24}"/>
              </a:ext>
            </a:extLst>
          </p:cNvPr>
          <p:cNvSpPr>
            <a:spLocks noGrp="1"/>
          </p:cNvSpPr>
          <p:nvPr>
            <p:ph type="dt" sz="half" idx="10"/>
          </p:nvPr>
        </p:nvSpPr>
        <p:spPr/>
        <p:txBody>
          <a:bodyPr/>
          <a:lstStyle/>
          <a:p>
            <a:fld id="{D222CDAF-DD54-4BDC-B6C4-E3DBEF52C5BE}" type="datetimeFigureOut">
              <a:rPr lang="en-IN" smtClean="0"/>
              <a:t>26-09-2023</a:t>
            </a:fld>
            <a:endParaRPr lang="en-IN"/>
          </a:p>
        </p:txBody>
      </p:sp>
      <p:sp>
        <p:nvSpPr>
          <p:cNvPr id="5" name="Footer Placeholder 4">
            <a:extLst>
              <a:ext uri="{FF2B5EF4-FFF2-40B4-BE49-F238E27FC236}">
                <a16:creationId xmlns:a16="http://schemas.microsoft.com/office/drawing/2014/main" id="{7A5DB3B2-34E9-A7F5-28EA-55971C268B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E234F5D-2282-D47F-BC01-42D9DC864465}"/>
              </a:ext>
            </a:extLst>
          </p:cNvPr>
          <p:cNvSpPr>
            <a:spLocks noGrp="1"/>
          </p:cNvSpPr>
          <p:nvPr>
            <p:ph type="sldNum" sz="quarter" idx="12"/>
          </p:nvPr>
        </p:nvSpPr>
        <p:spPr/>
        <p:txBody>
          <a:bodyPr/>
          <a:lstStyle/>
          <a:p>
            <a:fld id="{C7404261-627F-43C0-9994-9863F0BBF7BF}" type="slidenum">
              <a:rPr lang="en-IN" smtClean="0"/>
              <a:t>‹#›</a:t>
            </a:fld>
            <a:endParaRPr lang="en-IN"/>
          </a:p>
        </p:txBody>
      </p:sp>
    </p:spTree>
    <p:extLst>
      <p:ext uri="{BB962C8B-B14F-4D97-AF65-F5344CB8AC3E}">
        <p14:creationId xmlns:p14="http://schemas.microsoft.com/office/powerpoint/2010/main" val="5099386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3BD56B-C3F1-BEBB-0335-E8BA192D24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DB48CD6-847B-C86E-46AA-3958B6CF12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55465C-838F-0AF7-AA47-178877974A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22CDAF-DD54-4BDC-B6C4-E3DBEF52C5BE}" type="datetimeFigureOut">
              <a:rPr lang="en-IN" smtClean="0"/>
              <a:t>26-09-2023</a:t>
            </a:fld>
            <a:endParaRPr lang="en-IN"/>
          </a:p>
        </p:txBody>
      </p:sp>
      <p:sp>
        <p:nvSpPr>
          <p:cNvPr id="5" name="Footer Placeholder 4">
            <a:extLst>
              <a:ext uri="{FF2B5EF4-FFF2-40B4-BE49-F238E27FC236}">
                <a16:creationId xmlns:a16="http://schemas.microsoft.com/office/drawing/2014/main" id="{AFBD8A53-2F62-2154-952A-1E865B5CA9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7FD4203-D191-1AA5-E420-099068841F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404261-627F-43C0-9994-9863F0BBF7BF}" type="slidenum">
              <a:rPr lang="en-IN" smtClean="0"/>
              <a:t>‹#›</a:t>
            </a:fld>
            <a:endParaRPr lang="en-IN"/>
          </a:p>
        </p:txBody>
      </p:sp>
    </p:spTree>
    <p:extLst>
      <p:ext uri="{BB962C8B-B14F-4D97-AF65-F5344CB8AC3E}">
        <p14:creationId xmlns:p14="http://schemas.microsoft.com/office/powerpoint/2010/main" val="4126534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4F3978-BD39-ACDC-5168-7ABB26F4569A}"/>
              </a:ext>
            </a:extLst>
          </p:cNvPr>
          <p:cNvSpPr>
            <a:spLocks noGrp="1"/>
          </p:cNvSpPr>
          <p:nvPr>
            <p:ph idx="1"/>
          </p:nvPr>
        </p:nvSpPr>
        <p:spPr>
          <a:xfrm>
            <a:off x="838200" y="688489"/>
            <a:ext cx="10515600" cy="5488474"/>
          </a:xfrm>
        </p:spPr>
        <p:txBody>
          <a:bodyPr/>
          <a:lstStyle/>
          <a:p>
            <a:r>
              <a:rPr lang="en-IN" dirty="0"/>
              <a:t>Name: Rajdeep Saha</a:t>
            </a:r>
          </a:p>
          <a:p>
            <a:r>
              <a:rPr lang="en-IN" dirty="0"/>
              <a:t>Batch – DS C58</a:t>
            </a:r>
          </a:p>
          <a:p>
            <a:r>
              <a:rPr lang="en-IN" dirty="0"/>
              <a:t>EDA Credit Risk Assignment</a:t>
            </a:r>
          </a:p>
        </p:txBody>
      </p:sp>
    </p:spTree>
    <p:extLst>
      <p:ext uri="{BB962C8B-B14F-4D97-AF65-F5344CB8AC3E}">
        <p14:creationId xmlns:p14="http://schemas.microsoft.com/office/powerpoint/2010/main" val="40137360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8BD90-C1AB-F003-775A-94EFF16722AC}"/>
              </a:ext>
            </a:extLst>
          </p:cNvPr>
          <p:cNvSpPr>
            <a:spLocks noGrp="1"/>
          </p:cNvSpPr>
          <p:nvPr>
            <p:ph type="title"/>
          </p:nvPr>
        </p:nvSpPr>
        <p:spPr>
          <a:xfrm>
            <a:off x="838200" y="365126"/>
            <a:ext cx="10515600" cy="1054100"/>
          </a:xfrm>
          <a:ln>
            <a:solidFill>
              <a:srgbClr val="FF0000"/>
            </a:solidFill>
          </a:ln>
        </p:spPr>
        <p:txBody>
          <a:bodyPr>
            <a:normAutofit/>
          </a:bodyPr>
          <a:lstStyle/>
          <a:p>
            <a:pPr algn="ctr"/>
            <a:r>
              <a:rPr lang="en-IN" sz="3600" dirty="0">
                <a:latin typeface="Bahnschrift" panose="020B0502040204020203" pitchFamily="34" charset="0"/>
              </a:rPr>
              <a:t>Credit EDA Assignment</a:t>
            </a:r>
          </a:p>
        </p:txBody>
      </p:sp>
      <p:sp>
        <p:nvSpPr>
          <p:cNvPr id="3" name="Content Placeholder 2">
            <a:extLst>
              <a:ext uri="{FF2B5EF4-FFF2-40B4-BE49-F238E27FC236}">
                <a16:creationId xmlns:a16="http://schemas.microsoft.com/office/drawing/2014/main" id="{E208ACFA-ABD8-A6DE-013E-1AAA8AF4F526}"/>
              </a:ext>
            </a:extLst>
          </p:cNvPr>
          <p:cNvSpPr>
            <a:spLocks noGrp="1"/>
          </p:cNvSpPr>
          <p:nvPr>
            <p:ph idx="1"/>
          </p:nvPr>
        </p:nvSpPr>
        <p:spPr>
          <a:xfrm>
            <a:off x="838200" y="1762125"/>
            <a:ext cx="10515600" cy="4414838"/>
          </a:xfrm>
          <a:ln w="9525">
            <a:solidFill>
              <a:srgbClr val="0070C0"/>
            </a:solidFill>
          </a:ln>
        </p:spPr>
        <p:txBody>
          <a:bodyPr>
            <a:normAutofit/>
          </a:bodyPr>
          <a:lstStyle/>
          <a:p>
            <a:r>
              <a:rPr lang="en-IN" sz="2400" b="1" u="sng" dirty="0">
                <a:latin typeface="Bahnschrift" panose="020B0502040204020203" pitchFamily="34" charset="0"/>
              </a:rPr>
              <a:t>Business Problem</a:t>
            </a:r>
            <a:r>
              <a:rPr lang="en-IN" sz="2400" dirty="0">
                <a:latin typeface="Bahnschrift" panose="020B0502040204020203" pitchFamily="34" charset="0"/>
              </a:rPr>
              <a:t>: </a:t>
            </a:r>
          </a:p>
          <a:p>
            <a:pPr marL="0" indent="0">
              <a:buNone/>
            </a:pPr>
            <a:r>
              <a:rPr lang="en-IN" sz="2400" dirty="0">
                <a:latin typeface="Bahnschrift" panose="020B0502040204020203" pitchFamily="34" charset="0"/>
              </a:rPr>
              <a:t>	</a:t>
            </a:r>
            <a:r>
              <a:rPr lang="en-US" sz="2000" dirty="0">
                <a:latin typeface="Bahnschrift" panose="020B0502040204020203" pitchFamily="34" charset="0"/>
              </a:rPr>
              <a:t>A company wants to understand the driving factors (or driver variables) behind loan default, i.e. the variables which are strong indicators of default.  The company can utilize this knowledge for its portfolio and risk assessment</a:t>
            </a:r>
            <a:r>
              <a:rPr lang="en-US" sz="2400" dirty="0">
                <a:latin typeface="Bahnschrift" panose="020B0502040204020203" pitchFamily="34" charset="0"/>
              </a:rPr>
              <a:t>.</a:t>
            </a:r>
          </a:p>
          <a:p>
            <a:pPr marL="0" indent="0">
              <a:buNone/>
            </a:pPr>
            <a:endParaRPr lang="en-IN" sz="2400" dirty="0">
              <a:latin typeface="Bahnschrift" panose="020B0502040204020203" pitchFamily="34" charset="0"/>
            </a:endParaRPr>
          </a:p>
        </p:txBody>
      </p:sp>
    </p:spTree>
    <p:extLst>
      <p:ext uri="{BB962C8B-B14F-4D97-AF65-F5344CB8AC3E}">
        <p14:creationId xmlns:p14="http://schemas.microsoft.com/office/powerpoint/2010/main" val="1094720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2E43A-0626-E15B-0399-17361D61CB4D}"/>
              </a:ext>
            </a:extLst>
          </p:cNvPr>
          <p:cNvSpPr>
            <a:spLocks noGrp="1"/>
          </p:cNvSpPr>
          <p:nvPr>
            <p:ph type="title"/>
          </p:nvPr>
        </p:nvSpPr>
        <p:spPr>
          <a:xfrm>
            <a:off x="838200" y="365126"/>
            <a:ext cx="10515600" cy="773210"/>
          </a:xfrm>
          <a:ln>
            <a:solidFill>
              <a:srgbClr val="FF0000"/>
            </a:solidFill>
          </a:ln>
        </p:spPr>
        <p:txBody>
          <a:bodyPr>
            <a:normAutofit/>
          </a:bodyPr>
          <a:lstStyle/>
          <a:p>
            <a:pPr algn="ctr"/>
            <a:r>
              <a:rPr lang="en-IN" sz="2800" dirty="0">
                <a:latin typeface="Bahnschrift" panose="020B0502040204020203" pitchFamily="34" charset="0"/>
              </a:rPr>
              <a:t>Dataset Description</a:t>
            </a:r>
          </a:p>
        </p:txBody>
      </p:sp>
      <p:sp>
        <p:nvSpPr>
          <p:cNvPr id="3" name="Content Placeholder 2">
            <a:extLst>
              <a:ext uri="{FF2B5EF4-FFF2-40B4-BE49-F238E27FC236}">
                <a16:creationId xmlns:a16="http://schemas.microsoft.com/office/drawing/2014/main" id="{DE58B747-E2D6-86A8-563D-C749B6BC1523}"/>
              </a:ext>
            </a:extLst>
          </p:cNvPr>
          <p:cNvSpPr>
            <a:spLocks noGrp="1"/>
          </p:cNvSpPr>
          <p:nvPr>
            <p:ph idx="1"/>
          </p:nvPr>
        </p:nvSpPr>
        <p:spPr>
          <a:xfrm>
            <a:off x="838200" y="1315616"/>
            <a:ext cx="10515600" cy="4861347"/>
          </a:xfrm>
          <a:ln w="9525">
            <a:solidFill>
              <a:schemeClr val="accent1"/>
            </a:solidFill>
          </a:ln>
        </p:spPr>
        <p:txBody>
          <a:bodyPr>
            <a:normAutofit/>
          </a:bodyPr>
          <a:lstStyle/>
          <a:p>
            <a:r>
              <a:rPr lang="en-IN" sz="1800" dirty="0">
                <a:latin typeface="Bahnschrift" panose="020B0502040204020203" pitchFamily="34" charset="0"/>
              </a:rPr>
              <a:t>There are three datasets :</a:t>
            </a:r>
          </a:p>
          <a:p>
            <a:pPr>
              <a:buFont typeface="Wingdings" panose="05000000000000000000" pitchFamily="2" charset="2"/>
              <a:buChar char="Ø"/>
            </a:pPr>
            <a:r>
              <a:rPr lang="en-IN" sz="1800" dirty="0">
                <a:latin typeface="Bahnschrift" panose="020B0502040204020203" pitchFamily="34" charset="0"/>
              </a:rPr>
              <a:t> application_data.csv (for understanding the features responsible for loan application and parameters)</a:t>
            </a:r>
          </a:p>
          <a:p>
            <a:pPr>
              <a:buFont typeface="Wingdings" panose="05000000000000000000" pitchFamily="2" charset="2"/>
              <a:buChar char="Ø"/>
            </a:pPr>
            <a:r>
              <a:rPr lang="en-IN" sz="1800" dirty="0">
                <a:latin typeface="Bahnschrift" panose="020B0502040204020203" pitchFamily="34" charset="0"/>
              </a:rPr>
              <a:t>previous_application.csv (for understanding the features which were considered when the applicants asked for loan last time)</a:t>
            </a:r>
          </a:p>
          <a:p>
            <a:pPr>
              <a:buFont typeface="Wingdings" panose="05000000000000000000" pitchFamily="2" charset="2"/>
              <a:buChar char="Ø"/>
            </a:pPr>
            <a:r>
              <a:rPr lang="en-IN" sz="1800" dirty="0">
                <a:latin typeface="Bahnschrift" panose="020B0502040204020203" pitchFamily="34" charset="0"/>
              </a:rPr>
              <a:t>Columns_description.csv (for understanding the attributes’ meaning in order to do the exploratory Data Analysis)</a:t>
            </a:r>
          </a:p>
          <a:p>
            <a:pPr lvl="1">
              <a:buFont typeface="Wingdings" panose="05000000000000000000" pitchFamily="2" charset="2"/>
              <a:buChar char="Ø"/>
            </a:pPr>
            <a:r>
              <a:rPr lang="en-IN" sz="1800" dirty="0">
                <a:latin typeface="Bahnschrift" panose="020B0502040204020203" pitchFamily="34" charset="0"/>
              </a:rPr>
              <a:t>The </a:t>
            </a:r>
            <a:r>
              <a:rPr lang="en-IN" sz="1800" dirty="0" err="1">
                <a:latin typeface="Bahnschrift" panose="020B0502040204020203" pitchFamily="34" charset="0"/>
              </a:rPr>
              <a:t>application_data</a:t>
            </a:r>
            <a:r>
              <a:rPr lang="en-IN" sz="1800" dirty="0">
                <a:latin typeface="Bahnschrift" panose="020B0502040204020203" pitchFamily="34" charset="0"/>
              </a:rPr>
              <a:t> dimension : (</a:t>
            </a:r>
            <a:r>
              <a:rPr lang="en-US" altLang="en-US" sz="1800" dirty="0">
                <a:latin typeface="Bahnschrift" panose="020B0502040204020203" pitchFamily="34" charset="0"/>
              </a:rPr>
              <a:t>307511, 122)</a:t>
            </a:r>
          </a:p>
          <a:p>
            <a:pPr lvl="1">
              <a:buFont typeface="Wingdings" panose="05000000000000000000" pitchFamily="2" charset="2"/>
              <a:buChar char="Ø"/>
            </a:pPr>
            <a:r>
              <a:rPr lang="en-IN" sz="1800" dirty="0">
                <a:latin typeface="Bahnschrift" panose="020B0502040204020203" pitchFamily="34" charset="0"/>
              </a:rPr>
              <a:t>The </a:t>
            </a:r>
            <a:r>
              <a:rPr lang="en-IN" sz="1800" dirty="0" err="1">
                <a:latin typeface="Bahnschrift" panose="020B0502040204020203" pitchFamily="34" charset="0"/>
              </a:rPr>
              <a:t>previous_application</a:t>
            </a:r>
            <a:r>
              <a:rPr lang="en-IN" sz="1800" dirty="0">
                <a:latin typeface="Bahnschrift" panose="020B0502040204020203" pitchFamily="34" charset="0"/>
              </a:rPr>
              <a:t> data dimension : (</a:t>
            </a:r>
            <a:r>
              <a:rPr lang="en-US" altLang="en-US" sz="1800" dirty="0">
                <a:latin typeface="Bahnschrift" panose="020B0502040204020203" pitchFamily="34" charset="0"/>
              </a:rPr>
              <a:t>1670214, 37 </a:t>
            </a:r>
            <a:r>
              <a:rPr kumimoji="0" lang="en-IN" altLang="en-US" sz="1800" b="0" i="0" u="none" strike="noStrike" cap="none" normalizeH="0" baseline="0" dirty="0">
                <a:ln>
                  <a:noFill/>
                </a:ln>
                <a:solidFill>
                  <a:schemeClr val="tx1"/>
                </a:solidFill>
                <a:effectLst/>
                <a:latin typeface="Bahnschrift" panose="020B0502040204020203" pitchFamily="34" charset="0"/>
              </a:rPr>
              <a:t>)</a:t>
            </a:r>
            <a:endParaRPr lang="en-US" altLang="en-US" sz="1800" dirty="0">
              <a:latin typeface="Arial" panose="020B0604020202020204" pitchFamily="34" charset="0"/>
            </a:endParaRPr>
          </a:p>
        </p:txBody>
      </p:sp>
      <p:pic>
        <p:nvPicPr>
          <p:cNvPr id="8" name="Picture 7">
            <a:extLst>
              <a:ext uri="{FF2B5EF4-FFF2-40B4-BE49-F238E27FC236}">
                <a16:creationId xmlns:a16="http://schemas.microsoft.com/office/drawing/2014/main" id="{A355283D-4244-47E8-46DC-FECF586B9BE4}"/>
              </a:ext>
            </a:extLst>
          </p:cNvPr>
          <p:cNvPicPr>
            <a:picLocks noChangeAspect="1"/>
          </p:cNvPicPr>
          <p:nvPr/>
        </p:nvPicPr>
        <p:blipFill>
          <a:blip r:embed="rId2"/>
          <a:stretch>
            <a:fillRect/>
          </a:stretch>
        </p:blipFill>
        <p:spPr>
          <a:xfrm>
            <a:off x="974834" y="4419918"/>
            <a:ext cx="4772824" cy="1526475"/>
          </a:xfrm>
          <a:prstGeom prst="rect">
            <a:avLst/>
          </a:prstGeom>
          <a:ln>
            <a:solidFill>
              <a:srgbClr val="0070C0"/>
            </a:solidFill>
          </a:ln>
        </p:spPr>
      </p:pic>
      <p:pic>
        <p:nvPicPr>
          <p:cNvPr id="10" name="Picture 9">
            <a:extLst>
              <a:ext uri="{FF2B5EF4-FFF2-40B4-BE49-F238E27FC236}">
                <a16:creationId xmlns:a16="http://schemas.microsoft.com/office/drawing/2014/main" id="{011D4882-0DD4-1F7B-C971-8FD03D055D83}"/>
              </a:ext>
            </a:extLst>
          </p:cNvPr>
          <p:cNvPicPr>
            <a:picLocks noChangeAspect="1"/>
          </p:cNvPicPr>
          <p:nvPr/>
        </p:nvPicPr>
        <p:blipFill>
          <a:blip r:embed="rId3"/>
          <a:stretch>
            <a:fillRect/>
          </a:stretch>
        </p:blipFill>
        <p:spPr>
          <a:xfrm>
            <a:off x="5884292" y="4389134"/>
            <a:ext cx="5332874" cy="1526475"/>
          </a:xfrm>
          <a:prstGeom prst="rect">
            <a:avLst/>
          </a:prstGeom>
          <a:ln>
            <a:solidFill>
              <a:srgbClr val="0070C0"/>
            </a:solidFill>
          </a:ln>
        </p:spPr>
      </p:pic>
      <p:sp>
        <p:nvSpPr>
          <p:cNvPr id="11" name="TextBox 10">
            <a:extLst>
              <a:ext uri="{FF2B5EF4-FFF2-40B4-BE49-F238E27FC236}">
                <a16:creationId xmlns:a16="http://schemas.microsoft.com/office/drawing/2014/main" id="{9CAAD832-BFED-2462-8D87-A93E71DC93C8}"/>
              </a:ext>
            </a:extLst>
          </p:cNvPr>
          <p:cNvSpPr txBox="1"/>
          <p:nvPr/>
        </p:nvSpPr>
        <p:spPr>
          <a:xfrm>
            <a:off x="1511559" y="6176963"/>
            <a:ext cx="3536302" cy="369332"/>
          </a:xfrm>
          <a:prstGeom prst="rect">
            <a:avLst/>
          </a:prstGeom>
          <a:noFill/>
        </p:spPr>
        <p:txBody>
          <a:bodyPr wrap="square" rtlCol="0">
            <a:spAutoFit/>
          </a:bodyPr>
          <a:lstStyle/>
          <a:p>
            <a:pPr algn="ctr"/>
            <a:r>
              <a:rPr lang="en-IN" dirty="0"/>
              <a:t>application_data.csv</a:t>
            </a:r>
          </a:p>
        </p:txBody>
      </p:sp>
      <p:sp>
        <p:nvSpPr>
          <p:cNvPr id="12" name="TextBox 11">
            <a:extLst>
              <a:ext uri="{FF2B5EF4-FFF2-40B4-BE49-F238E27FC236}">
                <a16:creationId xmlns:a16="http://schemas.microsoft.com/office/drawing/2014/main" id="{5680E3BF-EE33-B528-0299-0156E7DD885F}"/>
              </a:ext>
            </a:extLst>
          </p:cNvPr>
          <p:cNvSpPr txBox="1"/>
          <p:nvPr/>
        </p:nvSpPr>
        <p:spPr>
          <a:xfrm>
            <a:off x="6255398" y="6176963"/>
            <a:ext cx="3536302" cy="369332"/>
          </a:xfrm>
          <a:prstGeom prst="rect">
            <a:avLst/>
          </a:prstGeom>
          <a:noFill/>
        </p:spPr>
        <p:txBody>
          <a:bodyPr wrap="square" rtlCol="0">
            <a:spAutoFit/>
          </a:bodyPr>
          <a:lstStyle/>
          <a:p>
            <a:pPr algn="ctr"/>
            <a:r>
              <a:rPr lang="en-IN" dirty="0"/>
              <a:t>Previous_application.csv</a:t>
            </a:r>
          </a:p>
        </p:txBody>
      </p:sp>
    </p:spTree>
    <p:extLst>
      <p:ext uri="{BB962C8B-B14F-4D97-AF65-F5344CB8AC3E}">
        <p14:creationId xmlns:p14="http://schemas.microsoft.com/office/powerpoint/2010/main" val="33469114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70587-41F5-582D-41D7-E5555236C4A8}"/>
              </a:ext>
            </a:extLst>
          </p:cNvPr>
          <p:cNvSpPr>
            <a:spLocks noGrp="1"/>
          </p:cNvSpPr>
          <p:nvPr>
            <p:ph type="title"/>
          </p:nvPr>
        </p:nvSpPr>
        <p:spPr>
          <a:xfrm>
            <a:off x="838200" y="365125"/>
            <a:ext cx="10515600" cy="549275"/>
          </a:xfrm>
          <a:ln>
            <a:solidFill>
              <a:srgbClr val="FF0000"/>
            </a:solidFill>
          </a:ln>
        </p:spPr>
        <p:txBody>
          <a:bodyPr>
            <a:normAutofit/>
          </a:bodyPr>
          <a:lstStyle/>
          <a:p>
            <a:pPr algn="ctr"/>
            <a:r>
              <a:rPr lang="en-IN" sz="2800" dirty="0">
                <a:latin typeface="Bahnschrift" panose="020B0502040204020203" pitchFamily="34" charset="0"/>
              </a:rPr>
              <a:t>Approach of Exploratory Data Analysis</a:t>
            </a:r>
          </a:p>
        </p:txBody>
      </p:sp>
      <p:sp>
        <p:nvSpPr>
          <p:cNvPr id="3" name="Content Placeholder 2">
            <a:extLst>
              <a:ext uri="{FF2B5EF4-FFF2-40B4-BE49-F238E27FC236}">
                <a16:creationId xmlns:a16="http://schemas.microsoft.com/office/drawing/2014/main" id="{F1313B05-9F2C-8413-4D20-CFD041A1A538}"/>
              </a:ext>
            </a:extLst>
          </p:cNvPr>
          <p:cNvSpPr>
            <a:spLocks noGrp="1"/>
          </p:cNvSpPr>
          <p:nvPr>
            <p:ph idx="1"/>
          </p:nvPr>
        </p:nvSpPr>
        <p:spPr>
          <a:xfrm>
            <a:off x="317241" y="1045028"/>
            <a:ext cx="11588620" cy="5654351"/>
          </a:xfrm>
          <a:ln>
            <a:solidFill>
              <a:srgbClr val="0070C0"/>
            </a:solidFill>
          </a:ln>
        </p:spPr>
        <p:txBody>
          <a:bodyPr>
            <a:normAutofit/>
          </a:bodyPr>
          <a:lstStyle/>
          <a:p>
            <a:pPr marL="514350" indent="-514350">
              <a:buFont typeface="+mj-lt"/>
              <a:buAutoNum type="arabicPeriod"/>
            </a:pPr>
            <a:r>
              <a:rPr lang="en-IN" sz="1600" dirty="0">
                <a:latin typeface="Bahnschrift" panose="020B0502040204020203" pitchFamily="34" charset="0"/>
              </a:rPr>
              <a:t>First in the “</a:t>
            </a:r>
            <a:r>
              <a:rPr lang="en-IN" sz="1600" dirty="0" err="1">
                <a:latin typeface="Bahnschrift" panose="020B0502040204020203" pitchFamily="34" charset="0"/>
              </a:rPr>
              <a:t>application_data</a:t>
            </a:r>
            <a:r>
              <a:rPr lang="en-IN" sz="1600" dirty="0">
                <a:latin typeface="Bahnschrift" panose="020B0502040204020203" pitchFamily="34" charset="0"/>
              </a:rPr>
              <a:t>” file, we found there are a lot of columns and percentage of missing values in different column was different.</a:t>
            </a:r>
          </a:p>
          <a:p>
            <a:pPr marL="514350" indent="-514350">
              <a:buFont typeface="+mj-lt"/>
              <a:buAutoNum type="arabicPeriod"/>
            </a:pPr>
            <a:r>
              <a:rPr lang="en-IN" sz="1600" dirty="0">
                <a:latin typeface="Bahnschrift" panose="020B0502040204020203" pitchFamily="34" charset="0"/>
              </a:rPr>
              <a:t>So, before proceeding with variable exploration, found out the percentage of missing values in each column and based on that created few groups of missing columns and after that started my analysis.	</a:t>
            </a:r>
          </a:p>
          <a:p>
            <a:pPr marL="514350" indent="-514350">
              <a:buFont typeface="+mj-lt"/>
              <a:buAutoNum type="arabicPeriod"/>
            </a:pPr>
            <a:endParaRPr lang="en-IN" sz="2000" dirty="0">
              <a:latin typeface="Bahnschrift" panose="020B0502040204020203" pitchFamily="34" charset="0"/>
            </a:endParaRPr>
          </a:p>
          <a:p>
            <a:pPr marL="514350" indent="-514350">
              <a:buFont typeface="+mj-lt"/>
              <a:buAutoNum type="arabicPeriod"/>
            </a:pPr>
            <a:endParaRPr lang="en-IN" sz="2000" dirty="0">
              <a:latin typeface="Bahnschrift" panose="020B0502040204020203" pitchFamily="34" charset="0"/>
            </a:endParaRPr>
          </a:p>
          <a:p>
            <a:pPr marL="514350" indent="-514350">
              <a:buFont typeface="+mj-lt"/>
              <a:buAutoNum type="arabicPeriod"/>
            </a:pPr>
            <a:endParaRPr lang="en-IN" sz="2000" dirty="0">
              <a:latin typeface="Bahnschrift" panose="020B0502040204020203" pitchFamily="34" charset="0"/>
            </a:endParaRPr>
          </a:p>
          <a:p>
            <a:pPr marL="514350" indent="-514350">
              <a:buFont typeface="+mj-lt"/>
              <a:buAutoNum type="arabicPeriod"/>
            </a:pPr>
            <a:endParaRPr lang="en-IN" sz="2000" dirty="0">
              <a:latin typeface="Bahnschrift" panose="020B0502040204020203" pitchFamily="34" charset="0"/>
            </a:endParaRPr>
          </a:p>
          <a:p>
            <a:pPr marL="514350" indent="-514350">
              <a:buFont typeface="+mj-lt"/>
              <a:buAutoNum type="arabicPeriod"/>
            </a:pPr>
            <a:r>
              <a:rPr lang="en-IN" sz="1600" dirty="0">
                <a:latin typeface="Bahnschrift" panose="020B0502040204020203" pitchFamily="34" charset="0"/>
              </a:rPr>
              <a:t>All the attributes whichever having 60-70% null values directly dropped because imputing those variables could create biased dataset, hence in future, machine learning on it can create a lot of problems.</a:t>
            </a:r>
          </a:p>
          <a:p>
            <a:pPr marL="514350" indent="-514350">
              <a:buFont typeface="+mj-lt"/>
              <a:buAutoNum type="arabicPeriod"/>
            </a:pPr>
            <a:r>
              <a:rPr lang="en-IN" sz="1600" dirty="0">
                <a:latin typeface="Bahnschrift" panose="020B0502040204020203" pitchFamily="34" charset="0"/>
              </a:rPr>
              <a:t>The Analysis involved Univariate , Bivariate and Multivariate Analysis.</a:t>
            </a:r>
          </a:p>
          <a:p>
            <a:pPr marL="514350" indent="-514350">
              <a:buFont typeface="+mj-lt"/>
              <a:buAutoNum type="arabicPeriod"/>
            </a:pPr>
            <a:r>
              <a:rPr lang="en-IN" sz="1600" dirty="0">
                <a:latin typeface="Bahnschrift" panose="020B0502040204020203" pitchFamily="34" charset="0"/>
              </a:rPr>
              <a:t>Data Transformation (wherever required) and handling Outliers and handling missing values.</a:t>
            </a:r>
          </a:p>
          <a:p>
            <a:pPr marL="514350" indent="-514350">
              <a:buFont typeface="+mj-lt"/>
              <a:buAutoNum type="arabicPeriod"/>
            </a:pPr>
            <a:r>
              <a:rPr lang="en-IN" sz="1600" dirty="0">
                <a:latin typeface="Bahnschrift" panose="020B0502040204020203" pitchFamily="34" charset="0"/>
              </a:rPr>
              <a:t>Inferring insights from the charts, made in the analysis.</a:t>
            </a:r>
          </a:p>
          <a:p>
            <a:pPr marL="514350" indent="-514350">
              <a:buFont typeface="+mj-lt"/>
              <a:buAutoNum type="arabicPeriod"/>
            </a:pPr>
            <a:r>
              <a:rPr lang="en-IN" sz="1600" dirty="0">
                <a:latin typeface="Bahnschrift" panose="020B0502040204020203" pitchFamily="34" charset="0"/>
              </a:rPr>
              <a:t>Checking Correlation .</a:t>
            </a:r>
          </a:p>
          <a:p>
            <a:pPr marL="514350" indent="-514350">
              <a:buFont typeface="+mj-lt"/>
              <a:buAutoNum type="arabicPeriod"/>
            </a:pPr>
            <a:r>
              <a:rPr lang="en-IN" sz="1600" dirty="0">
                <a:latin typeface="Bahnschrift" panose="020B0502040204020203" pitchFamily="34" charset="0"/>
              </a:rPr>
              <a:t>Grouping and segmenting the data to understand one particular value movement across all the features of that segment.</a:t>
            </a:r>
          </a:p>
          <a:p>
            <a:pPr marL="514350" indent="-514350">
              <a:buFont typeface="+mj-lt"/>
              <a:buAutoNum type="arabicPeriod"/>
            </a:pPr>
            <a:r>
              <a:rPr lang="en-IN" sz="1600" dirty="0">
                <a:latin typeface="Bahnschrift" panose="020B0502040204020203" pitchFamily="34" charset="0"/>
              </a:rPr>
              <a:t>Making Conclusion and Future Steps</a:t>
            </a:r>
            <a:r>
              <a:rPr lang="en-IN" sz="1800" dirty="0">
                <a:latin typeface="Bahnschrift" panose="020B0502040204020203" pitchFamily="34" charset="0"/>
              </a:rPr>
              <a:t>.</a:t>
            </a:r>
          </a:p>
        </p:txBody>
      </p:sp>
      <p:pic>
        <p:nvPicPr>
          <p:cNvPr id="5" name="Picture 4">
            <a:extLst>
              <a:ext uri="{FF2B5EF4-FFF2-40B4-BE49-F238E27FC236}">
                <a16:creationId xmlns:a16="http://schemas.microsoft.com/office/drawing/2014/main" id="{0329F317-123A-C0DF-48B5-580AB42A1366}"/>
              </a:ext>
            </a:extLst>
          </p:cNvPr>
          <p:cNvPicPr>
            <a:picLocks noChangeAspect="1"/>
          </p:cNvPicPr>
          <p:nvPr/>
        </p:nvPicPr>
        <p:blipFill>
          <a:blip r:embed="rId2"/>
          <a:stretch>
            <a:fillRect/>
          </a:stretch>
        </p:blipFill>
        <p:spPr>
          <a:xfrm>
            <a:off x="838200" y="2216075"/>
            <a:ext cx="4948897" cy="1395805"/>
          </a:xfrm>
          <a:prstGeom prst="rect">
            <a:avLst/>
          </a:prstGeom>
          <a:ln>
            <a:solidFill>
              <a:schemeClr val="accent1"/>
            </a:solidFill>
          </a:ln>
        </p:spPr>
      </p:pic>
    </p:spTree>
    <p:extLst>
      <p:ext uri="{BB962C8B-B14F-4D97-AF65-F5344CB8AC3E}">
        <p14:creationId xmlns:p14="http://schemas.microsoft.com/office/powerpoint/2010/main" val="12657478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C1289-1440-FC2E-347B-4B37AA8E9D13}"/>
              </a:ext>
            </a:extLst>
          </p:cNvPr>
          <p:cNvSpPr>
            <a:spLocks noGrp="1"/>
          </p:cNvSpPr>
          <p:nvPr>
            <p:ph type="title"/>
          </p:nvPr>
        </p:nvSpPr>
        <p:spPr>
          <a:xfrm>
            <a:off x="838200" y="365126"/>
            <a:ext cx="10515600" cy="893520"/>
          </a:xfrm>
          <a:ln>
            <a:solidFill>
              <a:srgbClr val="FF0000"/>
            </a:solidFill>
          </a:ln>
        </p:spPr>
        <p:txBody>
          <a:bodyPr>
            <a:normAutofit/>
          </a:bodyPr>
          <a:lstStyle/>
          <a:p>
            <a:pPr algn="ctr"/>
            <a:r>
              <a:rPr lang="en-IN" sz="3200" dirty="0">
                <a:latin typeface="Bahnschrift" panose="020B0502040204020203" pitchFamily="34" charset="0"/>
              </a:rPr>
              <a:t>Data Imbalance</a:t>
            </a:r>
          </a:p>
        </p:txBody>
      </p:sp>
      <p:sp>
        <p:nvSpPr>
          <p:cNvPr id="3" name="Content Placeholder 2">
            <a:extLst>
              <a:ext uri="{FF2B5EF4-FFF2-40B4-BE49-F238E27FC236}">
                <a16:creationId xmlns:a16="http://schemas.microsoft.com/office/drawing/2014/main" id="{FD7013AB-A0CD-5121-7809-A306BE4A0BC6}"/>
              </a:ext>
            </a:extLst>
          </p:cNvPr>
          <p:cNvSpPr>
            <a:spLocks noGrp="1"/>
          </p:cNvSpPr>
          <p:nvPr>
            <p:ph idx="1"/>
          </p:nvPr>
        </p:nvSpPr>
        <p:spPr>
          <a:xfrm>
            <a:off x="523538" y="1398494"/>
            <a:ext cx="11144923" cy="4778469"/>
          </a:xfrm>
          <a:ln>
            <a:solidFill>
              <a:srgbClr val="0070C0"/>
            </a:solidFill>
          </a:ln>
        </p:spPr>
        <p:txBody>
          <a:bodyPr>
            <a:normAutofit/>
          </a:bodyPr>
          <a:lstStyle/>
          <a:p>
            <a:pPr>
              <a:buFont typeface="Wingdings" panose="05000000000000000000" pitchFamily="2" charset="2"/>
              <a:buChar char="q"/>
            </a:pPr>
            <a:r>
              <a:rPr lang="en-IN" sz="1800" dirty="0">
                <a:latin typeface="Bahnschrift" panose="020B0502040204020203" pitchFamily="34" charset="0"/>
              </a:rPr>
              <a:t>Any dataset having one particular category in high percentage than the other category in the ‘target feature’ is called an imbalanced dataset. </a:t>
            </a:r>
          </a:p>
          <a:p>
            <a:pPr>
              <a:buFont typeface="Wingdings" panose="05000000000000000000" pitchFamily="2" charset="2"/>
              <a:buChar char="q"/>
            </a:pPr>
            <a:r>
              <a:rPr lang="en-IN" sz="1800" dirty="0">
                <a:latin typeface="Bahnschrift" panose="020B0502040204020203" pitchFamily="34" charset="0"/>
              </a:rPr>
              <a:t>In this case, ‘</a:t>
            </a:r>
            <a:r>
              <a:rPr lang="en-IN" sz="1800" dirty="0" err="1">
                <a:latin typeface="Bahnschrift" panose="020B0502040204020203" pitchFamily="34" charset="0"/>
              </a:rPr>
              <a:t>application_data</a:t>
            </a:r>
            <a:r>
              <a:rPr lang="en-IN" sz="1800" dirty="0">
                <a:latin typeface="Bahnschrift" panose="020B0502040204020203" pitchFamily="34" charset="0"/>
              </a:rPr>
              <a:t> file is also an imbalanced dataset where the Non-defaulter’s percentage is 91% and defaulter’s percentage is 9%. Ideally in real scenario, defaulter percentage should be as less as possible because having higher defaulter percentage is not good for any banking business. </a:t>
            </a:r>
          </a:p>
          <a:p>
            <a:pPr>
              <a:buFont typeface="Wingdings" panose="05000000000000000000" pitchFamily="2" charset="2"/>
              <a:buChar char="q"/>
            </a:pPr>
            <a:r>
              <a:rPr lang="en-IN" sz="1800" dirty="0">
                <a:latin typeface="Bahnschrift" panose="020B0502040204020203" pitchFamily="34" charset="0"/>
              </a:rPr>
              <a:t>The imbalance in dataset can be handled by ‘Up-sampling’, ‘Down-sampling’ or ‘SMOTE’ which we can apply in future stage.</a:t>
            </a:r>
          </a:p>
        </p:txBody>
      </p:sp>
      <p:pic>
        <p:nvPicPr>
          <p:cNvPr id="5" name="Picture 4">
            <a:extLst>
              <a:ext uri="{FF2B5EF4-FFF2-40B4-BE49-F238E27FC236}">
                <a16:creationId xmlns:a16="http://schemas.microsoft.com/office/drawing/2014/main" id="{D289C835-6D64-E5C6-0829-CC433B0804AB}"/>
              </a:ext>
            </a:extLst>
          </p:cNvPr>
          <p:cNvPicPr>
            <a:picLocks noChangeAspect="1"/>
          </p:cNvPicPr>
          <p:nvPr/>
        </p:nvPicPr>
        <p:blipFill>
          <a:blip r:embed="rId2"/>
          <a:stretch>
            <a:fillRect/>
          </a:stretch>
        </p:blipFill>
        <p:spPr>
          <a:xfrm>
            <a:off x="1001952" y="3597581"/>
            <a:ext cx="4247779" cy="1200329"/>
          </a:xfrm>
          <a:prstGeom prst="rect">
            <a:avLst/>
          </a:prstGeom>
          <a:ln>
            <a:solidFill>
              <a:srgbClr val="0070C0"/>
            </a:solidFill>
          </a:ln>
        </p:spPr>
      </p:pic>
      <p:sp>
        <p:nvSpPr>
          <p:cNvPr id="6" name="TextBox 5">
            <a:extLst>
              <a:ext uri="{FF2B5EF4-FFF2-40B4-BE49-F238E27FC236}">
                <a16:creationId xmlns:a16="http://schemas.microsoft.com/office/drawing/2014/main" id="{C8A018E1-AF01-C850-3B20-C25BE52D3BE5}"/>
              </a:ext>
            </a:extLst>
          </p:cNvPr>
          <p:cNvSpPr txBox="1"/>
          <p:nvPr/>
        </p:nvSpPr>
        <p:spPr>
          <a:xfrm>
            <a:off x="6465346" y="3597581"/>
            <a:ext cx="2904565" cy="1200329"/>
          </a:xfrm>
          <a:prstGeom prst="rect">
            <a:avLst/>
          </a:prstGeom>
          <a:noFill/>
          <a:ln>
            <a:solidFill>
              <a:srgbClr val="0070C0"/>
            </a:solidFill>
          </a:ln>
        </p:spPr>
        <p:txBody>
          <a:bodyPr wrap="square" rtlCol="0">
            <a:spAutoFit/>
          </a:bodyPr>
          <a:lstStyle/>
          <a:p>
            <a:r>
              <a:rPr lang="en-IN" u="sng" dirty="0"/>
              <a:t>Target variable:</a:t>
            </a:r>
          </a:p>
          <a:p>
            <a:pPr marL="285750" indent="-285750">
              <a:buFont typeface="Arial" panose="020B0604020202020204" pitchFamily="34" charset="0"/>
              <a:buChar char="•"/>
            </a:pPr>
            <a:r>
              <a:rPr lang="en-IN" dirty="0"/>
              <a:t>1 : Defaulters</a:t>
            </a:r>
          </a:p>
          <a:p>
            <a:pPr marL="285750" indent="-285750">
              <a:buFont typeface="Arial" panose="020B0604020202020204" pitchFamily="34" charset="0"/>
              <a:buChar char="•"/>
            </a:pPr>
            <a:r>
              <a:rPr lang="en-IN" dirty="0"/>
              <a:t>0 : Non-Defaulters</a:t>
            </a:r>
          </a:p>
          <a:p>
            <a:endParaRPr lang="en-IN" dirty="0"/>
          </a:p>
        </p:txBody>
      </p:sp>
    </p:spTree>
    <p:extLst>
      <p:ext uri="{BB962C8B-B14F-4D97-AF65-F5344CB8AC3E}">
        <p14:creationId xmlns:p14="http://schemas.microsoft.com/office/powerpoint/2010/main" val="3969481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F6563-09C9-85F9-349D-0525AEF78685}"/>
              </a:ext>
            </a:extLst>
          </p:cNvPr>
          <p:cNvSpPr>
            <a:spLocks noGrp="1"/>
          </p:cNvSpPr>
          <p:nvPr>
            <p:ph type="title"/>
          </p:nvPr>
        </p:nvSpPr>
        <p:spPr>
          <a:xfrm>
            <a:off x="838200" y="365126"/>
            <a:ext cx="10515600" cy="806450"/>
          </a:xfrm>
          <a:ln>
            <a:solidFill>
              <a:srgbClr val="FF0000"/>
            </a:solidFill>
          </a:ln>
        </p:spPr>
        <p:txBody>
          <a:bodyPr>
            <a:normAutofit/>
          </a:bodyPr>
          <a:lstStyle/>
          <a:p>
            <a:pPr algn="ctr"/>
            <a:r>
              <a:rPr lang="en-IN" sz="2800" b="1" dirty="0">
                <a:latin typeface="Bahnschrift" panose="020B0502040204020203" pitchFamily="34" charset="0"/>
              </a:rPr>
              <a:t>Univariate Analysis</a:t>
            </a:r>
          </a:p>
        </p:txBody>
      </p:sp>
      <p:sp>
        <p:nvSpPr>
          <p:cNvPr id="3" name="Content Placeholder 2">
            <a:extLst>
              <a:ext uri="{FF2B5EF4-FFF2-40B4-BE49-F238E27FC236}">
                <a16:creationId xmlns:a16="http://schemas.microsoft.com/office/drawing/2014/main" id="{1BF9C61B-FE49-8FAC-B022-A1564BB1A654}"/>
              </a:ext>
            </a:extLst>
          </p:cNvPr>
          <p:cNvSpPr>
            <a:spLocks noGrp="1"/>
          </p:cNvSpPr>
          <p:nvPr>
            <p:ph idx="1"/>
          </p:nvPr>
        </p:nvSpPr>
        <p:spPr>
          <a:xfrm>
            <a:off x="238125" y="1266825"/>
            <a:ext cx="11734800" cy="5391150"/>
          </a:xfrm>
          <a:ln>
            <a:solidFill>
              <a:srgbClr val="0070C0"/>
            </a:solidFill>
          </a:ln>
        </p:spPr>
        <p:txBody>
          <a:bodyPr>
            <a:normAutofit/>
          </a:bodyPr>
          <a:lstStyle/>
          <a:p>
            <a:r>
              <a:rPr lang="en-IN" sz="1800" dirty="0">
                <a:latin typeface="Bahnschrift" panose="020B0502040204020203" pitchFamily="34" charset="0"/>
              </a:rPr>
              <a:t>The Unaccompanied persons’ count is highest among all other accompanied group.</a:t>
            </a:r>
          </a:p>
          <a:p>
            <a:endParaRPr lang="en-IN" sz="1800" dirty="0">
              <a:latin typeface="Bahnschrift" panose="020B0502040204020203" pitchFamily="34" charset="0"/>
            </a:endParaRPr>
          </a:p>
          <a:p>
            <a:endParaRPr lang="en-IN" sz="1800" dirty="0">
              <a:latin typeface="Bahnschrift" panose="020B0502040204020203" pitchFamily="34" charset="0"/>
            </a:endParaRPr>
          </a:p>
          <a:p>
            <a:endParaRPr lang="en-IN" sz="1800" dirty="0">
              <a:latin typeface="Bahnschrift" panose="020B0502040204020203" pitchFamily="34" charset="0"/>
            </a:endParaRPr>
          </a:p>
          <a:p>
            <a:pPr marL="0" indent="0">
              <a:buNone/>
            </a:pPr>
            <a:endParaRPr lang="en-IN" sz="1800" dirty="0">
              <a:latin typeface="Bahnschrift" panose="020B0502040204020203" pitchFamily="34" charset="0"/>
            </a:endParaRPr>
          </a:p>
          <a:p>
            <a:endParaRPr lang="en-IN" sz="1800" dirty="0">
              <a:latin typeface="Bahnschrift" panose="020B0502040204020203" pitchFamily="34" charset="0"/>
            </a:endParaRPr>
          </a:p>
          <a:p>
            <a:pPr marL="457200" lvl="1" indent="0">
              <a:buNone/>
            </a:pPr>
            <a:endParaRPr lang="en-IN" sz="1400" dirty="0">
              <a:latin typeface="Bahnschrift" panose="020B0502040204020203" pitchFamily="34" charset="0"/>
            </a:endParaRPr>
          </a:p>
          <a:p>
            <a:pPr lvl="1"/>
            <a:r>
              <a:rPr lang="en-IN" sz="1600" dirty="0">
                <a:latin typeface="Bahnschrift" panose="020B0502040204020203" pitchFamily="34" charset="0"/>
              </a:rPr>
              <a:t>This attribute intuitively seem to be important for determining the factor for approving loan and defaulters. Though Hypothesis testing could have been done for proving the significance of it which can be implemented in future step.</a:t>
            </a:r>
          </a:p>
          <a:p>
            <a:r>
              <a:rPr lang="en-IN" sz="1800" dirty="0">
                <a:latin typeface="Bahnschrift" panose="020B0502040204020203" pitchFamily="34" charset="0"/>
              </a:rPr>
              <a:t>The External Sources were not much clear with their meaning. An assumption had been made here : all the external sources score are related with credit score.  So , as the method of data transformation, all these scores’ average have been taken and replaced instead of these three which is normally distributed.</a:t>
            </a:r>
          </a:p>
          <a:p>
            <a:pPr marL="457200" lvl="1" indent="0">
              <a:buNone/>
            </a:pPr>
            <a:endParaRPr lang="en-IN" sz="1000" dirty="0">
              <a:latin typeface="Bahnschrift" panose="020B0502040204020203" pitchFamily="34" charset="0"/>
            </a:endParaRPr>
          </a:p>
          <a:p>
            <a:endParaRPr lang="en-IN" sz="1800" dirty="0">
              <a:latin typeface="Bahnschrift" panose="020B0502040204020203" pitchFamily="34" charset="0"/>
            </a:endParaRPr>
          </a:p>
          <a:p>
            <a:endParaRPr lang="en-IN" sz="1800" dirty="0">
              <a:latin typeface="Bahnschrift" panose="020B0502040204020203" pitchFamily="34" charset="0"/>
            </a:endParaRPr>
          </a:p>
          <a:p>
            <a:endParaRPr lang="en-IN" sz="1800" dirty="0">
              <a:latin typeface="Bahnschrift" panose="020B0502040204020203" pitchFamily="34" charset="0"/>
            </a:endParaRPr>
          </a:p>
          <a:p>
            <a:endParaRPr lang="en-IN" sz="1800" dirty="0">
              <a:latin typeface="Bahnschrift" panose="020B0502040204020203" pitchFamily="34" charset="0"/>
            </a:endParaRPr>
          </a:p>
        </p:txBody>
      </p:sp>
      <p:pic>
        <p:nvPicPr>
          <p:cNvPr id="5" name="Picture 4">
            <a:extLst>
              <a:ext uri="{FF2B5EF4-FFF2-40B4-BE49-F238E27FC236}">
                <a16:creationId xmlns:a16="http://schemas.microsoft.com/office/drawing/2014/main" id="{73653627-7F60-3382-3395-D52E8ED5A0B2}"/>
              </a:ext>
            </a:extLst>
          </p:cNvPr>
          <p:cNvPicPr>
            <a:picLocks noChangeAspect="1"/>
          </p:cNvPicPr>
          <p:nvPr/>
        </p:nvPicPr>
        <p:blipFill>
          <a:blip r:embed="rId2"/>
          <a:stretch>
            <a:fillRect/>
          </a:stretch>
        </p:blipFill>
        <p:spPr>
          <a:xfrm>
            <a:off x="838200" y="1660962"/>
            <a:ext cx="5257800" cy="1936678"/>
          </a:xfrm>
          <a:prstGeom prst="rect">
            <a:avLst/>
          </a:prstGeom>
          <a:ln>
            <a:solidFill>
              <a:srgbClr val="0070C0"/>
            </a:solidFill>
          </a:ln>
        </p:spPr>
      </p:pic>
      <p:pic>
        <p:nvPicPr>
          <p:cNvPr id="7" name="Picture 6">
            <a:extLst>
              <a:ext uri="{FF2B5EF4-FFF2-40B4-BE49-F238E27FC236}">
                <a16:creationId xmlns:a16="http://schemas.microsoft.com/office/drawing/2014/main" id="{6A99F8F7-09CF-127E-2DA6-9A6CF8AB0076}"/>
              </a:ext>
            </a:extLst>
          </p:cNvPr>
          <p:cNvPicPr>
            <a:picLocks noChangeAspect="1"/>
          </p:cNvPicPr>
          <p:nvPr/>
        </p:nvPicPr>
        <p:blipFill>
          <a:blip r:embed="rId3"/>
          <a:stretch>
            <a:fillRect/>
          </a:stretch>
        </p:blipFill>
        <p:spPr>
          <a:xfrm>
            <a:off x="456805" y="5107276"/>
            <a:ext cx="4498767" cy="1423267"/>
          </a:xfrm>
          <a:prstGeom prst="rect">
            <a:avLst/>
          </a:prstGeom>
          <a:ln>
            <a:solidFill>
              <a:srgbClr val="0070C0"/>
            </a:solidFill>
          </a:ln>
        </p:spPr>
      </p:pic>
      <p:pic>
        <p:nvPicPr>
          <p:cNvPr id="9" name="Picture 8">
            <a:extLst>
              <a:ext uri="{FF2B5EF4-FFF2-40B4-BE49-F238E27FC236}">
                <a16:creationId xmlns:a16="http://schemas.microsoft.com/office/drawing/2014/main" id="{80538D31-314C-F1D7-C88D-A2159B36E3D2}"/>
              </a:ext>
            </a:extLst>
          </p:cNvPr>
          <p:cNvPicPr>
            <a:picLocks noChangeAspect="1"/>
          </p:cNvPicPr>
          <p:nvPr/>
        </p:nvPicPr>
        <p:blipFill>
          <a:blip r:embed="rId4"/>
          <a:stretch>
            <a:fillRect/>
          </a:stretch>
        </p:blipFill>
        <p:spPr>
          <a:xfrm>
            <a:off x="6105525" y="5107276"/>
            <a:ext cx="3606721" cy="1550699"/>
          </a:xfrm>
          <a:prstGeom prst="rect">
            <a:avLst/>
          </a:prstGeom>
          <a:ln>
            <a:solidFill>
              <a:srgbClr val="0070C0"/>
            </a:solidFill>
          </a:ln>
        </p:spPr>
      </p:pic>
    </p:spTree>
    <p:extLst>
      <p:ext uri="{BB962C8B-B14F-4D97-AF65-F5344CB8AC3E}">
        <p14:creationId xmlns:p14="http://schemas.microsoft.com/office/powerpoint/2010/main" val="18764297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89136-0D53-8A9B-8BCB-C771EED1B4D7}"/>
              </a:ext>
            </a:extLst>
          </p:cNvPr>
          <p:cNvSpPr>
            <a:spLocks noGrp="1"/>
          </p:cNvSpPr>
          <p:nvPr>
            <p:ph type="title"/>
          </p:nvPr>
        </p:nvSpPr>
        <p:spPr>
          <a:xfrm>
            <a:off x="838200" y="365125"/>
            <a:ext cx="10515600" cy="785943"/>
          </a:xfrm>
          <a:ln>
            <a:solidFill>
              <a:srgbClr val="FF0000"/>
            </a:solidFill>
          </a:ln>
        </p:spPr>
        <p:txBody>
          <a:bodyPr>
            <a:normAutofit/>
          </a:bodyPr>
          <a:lstStyle/>
          <a:p>
            <a:pPr algn="ctr"/>
            <a:r>
              <a:rPr lang="en-IN" sz="2800" b="1" dirty="0">
                <a:latin typeface="Bahnschrift" panose="020B0502040204020203" pitchFamily="34" charset="0"/>
              </a:rPr>
              <a:t>Univariate Analysis(Contd.)</a:t>
            </a:r>
          </a:p>
        </p:txBody>
      </p:sp>
      <p:sp>
        <p:nvSpPr>
          <p:cNvPr id="3" name="Content Placeholder 2">
            <a:extLst>
              <a:ext uri="{FF2B5EF4-FFF2-40B4-BE49-F238E27FC236}">
                <a16:creationId xmlns:a16="http://schemas.microsoft.com/office/drawing/2014/main" id="{7B2C84A9-13FB-08A8-6C7B-99000C5584AE}"/>
              </a:ext>
            </a:extLst>
          </p:cNvPr>
          <p:cNvSpPr>
            <a:spLocks noGrp="1"/>
          </p:cNvSpPr>
          <p:nvPr>
            <p:ph idx="1"/>
          </p:nvPr>
        </p:nvSpPr>
        <p:spPr>
          <a:xfrm>
            <a:off x="322729" y="1269402"/>
            <a:ext cx="11553713" cy="5335793"/>
          </a:xfrm>
          <a:ln>
            <a:solidFill>
              <a:srgbClr val="0070C0"/>
            </a:solidFill>
          </a:ln>
        </p:spPr>
        <p:txBody>
          <a:bodyPr>
            <a:normAutofit/>
          </a:bodyPr>
          <a:lstStyle/>
          <a:p>
            <a:r>
              <a:rPr lang="en-IN" sz="1800" dirty="0">
                <a:latin typeface="Bahnschrift" panose="020B0502040204020203" pitchFamily="34" charset="0"/>
              </a:rPr>
              <a:t>For the number of observations in the client surroundings for 30 days and 60 days past due first , I did the analysis with the numerical feature and got the below inferences:</a:t>
            </a:r>
          </a:p>
          <a:p>
            <a:pPr marL="800100" lvl="1" indent="-342900">
              <a:buFont typeface="+mj-lt"/>
              <a:buAutoNum type="alphaLcPeriod"/>
            </a:pPr>
            <a:r>
              <a:rPr lang="en-IN" sz="1400" dirty="0">
                <a:latin typeface="Bahnschrift" panose="020B0502040204020203" pitchFamily="34" charset="0"/>
              </a:rPr>
              <a:t>0 defaulters are contributing to 50% of all the defaulters in the social circle of the customers.</a:t>
            </a:r>
          </a:p>
          <a:p>
            <a:pPr marL="800100" lvl="1" indent="-342900">
              <a:buFont typeface="+mj-lt"/>
              <a:buAutoNum type="alphaLcPeriod"/>
            </a:pPr>
            <a:r>
              <a:rPr lang="en-IN" sz="1400" dirty="0">
                <a:latin typeface="Bahnschrift" panose="020B0502040204020203" pitchFamily="34" charset="0"/>
              </a:rPr>
              <a:t>In the attribute “</a:t>
            </a:r>
            <a:r>
              <a:rPr lang="fr-FR" sz="1100" b="1" i="0" dirty="0">
                <a:solidFill>
                  <a:srgbClr val="000000"/>
                </a:solidFill>
                <a:effectLst/>
                <a:latin typeface="Helvetica Neue"/>
              </a:rPr>
              <a:t>DEF_30_CNT_SOCIAL_CIRCLE</a:t>
            </a:r>
            <a:r>
              <a:rPr lang="en-IN" sz="1400" b="1" i="0" dirty="0">
                <a:solidFill>
                  <a:srgbClr val="000000"/>
                </a:solidFill>
                <a:effectLst/>
                <a:latin typeface="Bahnschrift" panose="020B0502040204020203" pitchFamily="34" charset="0"/>
              </a:rPr>
              <a:t>” </a:t>
            </a:r>
            <a:r>
              <a:rPr lang="en-IN" sz="1400" i="0" dirty="0">
                <a:solidFill>
                  <a:srgbClr val="000000"/>
                </a:solidFill>
                <a:effectLst/>
                <a:latin typeface="Bahnschrift" panose="020B0502040204020203" pitchFamily="34" charset="0"/>
              </a:rPr>
              <a:t>the single defaulter for all customer surrounding cumulatively giving 28201 which comprises of 0.09% among all. </a:t>
            </a:r>
          </a:p>
          <a:p>
            <a:pPr marL="800100" lvl="1" indent="-342900">
              <a:buFont typeface="+mj-lt"/>
              <a:buAutoNum type="alphaLcPeriod"/>
            </a:pPr>
            <a:r>
              <a:rPr lang="en-IN" sz="1400" dirty="0">
                <a:solidFill>
                  <a:srgbClr val="000000"/>
                </a:solidFill>
                <a:latin typeface="Bahnschrift" panose="020B0502040204020203" pitchFamily="34" charset="0"/>
              </a:rPr>
              <a:t>Similar type of observations found for 60 days past due cases as well.</a:t>
            </a:r>
            <a:endParaRPr lang="en-IN" sz="1800" dirty="0">
              <a:solidFill>
                <a:srgbClr val="000000"/>
              </a:solidFill>
              <a:latin typeface="Bahnschrift" panose="020B0502040204020203" pitchFamily="34" charset="0"/>
            </a:endParaRPr>
          </a:p>
          <a:p>
            <a:pPr marL="800100" lvl="1" indent="-342900">
              <a:buFont typeface="+mj-lt"/>
              <a:buAutoNum type="alphaLcPeriod"/>
            </a:pPr>
            <a:r>
              <a:rPr lang="en-IN" sz="1400" dirty="0">
                <a:solidFill>
                  <a:srgbClr val="000000"/>
                </a:solidFill>
                <a:latin typeface="Bahnschrift" panose="020B0502040204020203" pitchFamily="34" charset="0"/>
              </a:rPr>
              <a:t>Data Transformation applied: wherever the presence is 1 they we named as </a:t>
            </a:r>
            <a:r>
              <a:rPr lang="en-IN" sz="1400" dirty="0" err="1">
                <a:solidFill>
                  <a:srgbClr val="000000"/>
                </a:solidFill>
                <a:latin typeface="Bahnschrift" panose="020B0502040204020203" pitchFamily="34" charset="0"/>
              </a:rPr>
              <a:t>latepayer</a:t>
            </a:r>
            <a:r>
              <a:rPr lang="en-IN" sz="1400" dirty="0">
                <a:solidFill>
                  <a:srgbClr val="000000"/>
                </a:solidFill>
                <a:latin typeface="Bahnschrift" panose="020B0502040204020203" pitchFamily="34" charset="0"/>
              </a:rPr>
              <a:t>/defaulter else they were named as ‘non-defaulter’. Thus the numeric variable was converted to categorical.</a:t>
            </a:r>
          </a:p>
          <a:p>
            <a:pPr marL="800100" lvl="1" indent="-342900">
              <a:buFont typeface="+mj-lt"/>
              <a:buAutoNum type="alphaLcPeriod"/>
            </a:pPr>
            <a:r>
              <a:rPr lang="en-IN" sz="1400" dirty="0">
                <a:solidFill>
                  <a:srgbClr val="000000"/>
                </a:solidFill>
                <a:latin typeface="Bahnschrift" panose="020B0502040204020203" pitchFamily="34" charset="0"/>
              </a:rPr>
              <a:t>The graph of these are as below:</a:t>
            </a:r>
          </a:p>
          <a:p>
            <a:pPr marL="457200" lvl="1" indent="0">
              <a:buNone/>
            </a:pPr>
            <a:r>
              <a:rPr lang="en-IN" sz="1400" dirty="0">
                <a:solidFill>
                  <a:srgbClr val="000000"/>
                </a:solidFill>
                <a:latin typeface="Bahnschrift" panose="020B0502040204020203" pitchFamily="34" charset="0"/>
              </a:rPr>
              <a:t>	</a:t>
            </a:r>
            <a:endParaRPr lang="fr-FR" sz="1400" dirty="0">
              <a:solidFill>
                <a:srgbClr val="000000"/>
              </a:solidFill>
              <a:latin typeface="Helvetica Neue"/>
            </a:endParaRPr>
          </a:p>
        </p:txBody>
      </p:sp>
      <p:pic>
        <p:nvPicPr>
          <p:cNvPr id="5" name="Picture 4">
            <a:extLst>
              <a:ext uri="{FF2B5EF4-FFF2-40B4-BE49-F238E27FC236}">
                <a16:creationId xmlns:a16="http://schemas.microsoft.com/office/drawing/2014/main" id="{78E37F3A-B805-280B-ECD4-3F690B67D151}"/>
              </a:ext>
            </a:extLst>
          </p:cNvPr>
          <p:cNvPicPr>
            <a:picLocks noChangeAspect="1"/>
          </p:cNvPicPr>
          <p:nvPr/>
        </p:nvPicPr>
        <p:blipFill>
          <a:blip r:embed="rId2"/>
          <a:stretch>
            <a:fillRect/>
          </a:stretch>
        </p:blipFill>
        <p:spPr>
          <a:xfrm>
            <a:off x="702228" y="3614569"/>
            <a:ext cx="5279023" cy="2878306"/>
          </a:xfrm>
          <a:prstGeom prst="rect">
            <a:avLst/>
          </a:prstGeom>
          <a:ln>
            <a:solidFill>
              <a:srgbClr val="0070C0"/>
            </a:solidFill>
          </a:ln>
        </p:spPr>
      </p:pic>
      <p:sp>
        <p:nvSpPr>
          <p:cNvPr id="6" name="TextBox 5">
            <a:extLst>
              <a:ext uri="{FF2B5EF4-FFF2-40B4-BE49-F238E27FC236}">
                <a16:creationId xmlns:a16="http://schemas.microsoft.com/office/drawing/2014/main" id="{C4BE72F5-A84E-60B7-0F51-FF9C80BCA041}"/>
              </a:ext>
            </a:extLst>
          </p:cNvPr>
          <p:cNvSpPr txBox="1"/>
          <p:nvPr/>
        </p:nvSpPr>
        <p:spPr>
          <a:xfrm>
            <a:off x="6583680" y="3614569"/>
            <a:ext cx="4770120" cy="2031325"/>
          </a:xfrm>
          <a:prstGeom prst="rect">
            <a:avLst/>
          </a:prstGeom>
          <a:noFill/>
          <a:ln>
            <a:solidFill>
              <a:srgbClr val="00B050"/>
            </a:solidFill>
          </a:ln>
        </p:spPr>
        <p:txBody>
          <a:bodyPr wrap="square" rtlCol="0">
            <a:spAutoFit/>
          </a:bodyPr>
          <a:lstStyle/>
          <a:p>
            <a:r>
              <a:rPr lang="en-IN" u="sng" dirty="0">
                <a:latin typeface="Bahnschrift" panose="020B0502040204020203" pitchFamily="34" charset="0"/>
              </a:rPr>
              <a:t>Observations:</a:t>
            </a:r>
          </a:p>
          <a:p>
            <a:pPr algn="l">
              <a:buFont typeface="Arial" panose="020B0604020202020204" pitchFamily="34" charset="0"/>
              <a:buChar char="•"/>
            </a:pPr>
            <a:r>
              <a:rPr lang="en-US" b="0" i="0" dirty="0">
                <a:solidFill>
                  <a:srgbClr val="000000"/>
                </a:solidFill>
                <a:effectLst/>
                <a:latin typeface="Bahnschrift" panose="020B0502040204020203" pitchFamily="34" charset="0"/>
              </a:rPr>
              <a:t>After changing the attributes to categorical, we can see in 30 Days past the due date, The non-defaulter count is higher</a:t>
            </a:r>
          </a:p>
          <a:p>
            <a:pPr algn="l">
              <a:buFont typeface="Arial" panose="020B0604020202020204" pitchFamily="34" charset="0"/>
              <a:buChar char="•"/>
            </a:pPr>
            <a:r>
              <a:rPr lang="en-US" b="0" i="0" dirty="0">
                <a:solidFill>
                  <a:srgbClr val="000000"/>
                </a:solidFill>
                <a:effectLst/>
                <a:latin typeface="Bahnschrift" panose="020B0502040204020203" pitchFamily="34" charset="0"/>
              </a:rPr>
              <a:t>The Late payer in 30 days and 60 days are quite higher than the number of defaulters</a:t>
            </a:r>
          </a:p>
          <a:p>
            <a:endParaRPr lang="en-IN" dirty="0"/>
          </a:p>
        </p:txBody>
      </p:sp>
    </p:spTree>
    <p:extLst>
      <p:ext uri="{BB962C8B-B14F-4D97-AF65-F5344CB8AC3E}">
        <p14:creationId xmlns:p14="http://schemas.microsoft.com/office/powerpoint/2010/main" val="1552973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26A22-D599-0EBC-C153-F4CBD6BCD416}"/>
              </a:ext>
            </a:extLst>
          </p:cNvPr>
          <p:cNvSpPr>
            <a:spLocks noGrp="1"/>
          </p:cNvSpPr>
          <p:nvPr>
            <p:ph type="title"/>
          </p:nvPr>
        </p:nvSpPr>
        <p:spPr>
          <a:xfrm>
            <a:off x="838200" y="365126"/>
            <a:ext cx="10515600" cy="764428"/>
          </a:xfrm>
          <a:ln>
            <a:solidFill>
              <a:srgbClr val="FF0000"/>
            </a:solidFill>
          </a:ln>
        </p:spPr>
        <p:txBody>
          <a:bodyPr>
            <a:normAutofit/>
          </a:bodyPr>
          <a:lstStyle/>
          <a:p>
            <a:pPr algn="ctr"/>
            <a:r>
              <a:rPr lang="en-IN" sz="2800" b="1" dirty="0">
                <a:latin typeface="Bahnschrift" panose="020B0502040204020203" pitchFamily="34" charset="0"/>
              </a:rPr>
              <a:t>Univariate Analysis(Contd.)</a:t>
            </a:r>
          </a:p>
        </p:txBody>
      </p:sp>
      <p:sp>
        <p:nvSpPr>
          <p:cNvPr id="3" name="Content Placeholder 2">
            <a:extLst>
              <a:ext uri="{FF2B5EF4-FFF2-40B4-BE49-F238E27FC236}">
                <a16:creationId xmlns:a16="http://schemas.microsoft.com/office/drawing/2014/main" id="{301DD4F2-2E9E-89A0-B395-179644B18AD8}"/>
              </a:ext>
            </a:extLst>
          </p:cNvPr>
          <p:cNvSpPr>
            <a:spLocks noGrp="1"/>
          </p:cNvSpPr>
          <p:nvPr>
            <p:ph idx="1"/>
          </p:nvPr>
        </p:nvSpPr>
        <p:spPr>
          <a:xfrm>
            <a:off x="268941" y="1253331"/>
            <a:ext cx="11650532" cy="5373380"/>
          </a:xfrm>
          <a:ln>
            <a:solidFill>
              <a:srgbClr val="0070C0"/>
            </a:solidFill>
          </a:ln>
        </p:spPr>
        <p:txBody>
          <a:bodyPr>
            <a:normAutofit/>
          </a:bodyPr>
          <a:lstStyle/>
          <a:p>
            <a:pPr algn="l">
              <a:buFont typeface="Arial" panose="020B0604020202020204" pitchFamily="34" charset="0"/>
              <a:buChar char="•"/>
            </a:pPr>
            <a:r>
              <a:rPr lang="en-US" sz="1800" b="0" i="0" dirty="0">
                <a:solidFill>
                  <a:srgbClr val="000000"/>
                </a:solidFill>
                <a:effectLst/>
                <a:latin typeface="Bahnschrift" panose="020B0502040204020203" pitchFamily="34" charset="0"/>
              </a:rPr>
              <a:t>All the AMT_REQ_CREDIT attributes are skewed towards right and all have outliers.</a:t>
            </a:r>
          </a:p>
          <a:p>
            <a:pPr algn="l">
              <a:buFont typeface="Arial" panose="020B0604020202020204" pitchFamily="34" charset="0"/>
              <a:buChar char="•"/>
            </a:pPr>
            <a:r>
              <a:rPr lang="en-US" sz="1800" b="0" i="0" dirty="0">
                <a:solidFill>
                  <a:srgbClr val="000000"/>
                </a:solidFill>
                <a:effectLst/>
                <a:latin typeface="Bahnschrift" panose="020B0502040204020203" pitchFamily="34" charset="0"/>
              </a:rPr>
              <a:t> I have handled the outliers by removal from the instances from the dataset as the percentage of it was very less.</a:t>
            </a:r>
          </a:p>
          <a:p>
            <a:pPr algn="l">
              <a:buFont typeface="Arial" panose="020B0604020202020204" pitchFamily="34" charset="0"/>
              <a:buChar char="•"/>
            </a:pPr>
            <a:r>
              <a:rPr lang="en-US" sz="1800" b="0" i="0" dirty="0">
                <a:solidFill>
                  <a:srgbClr val="000000"/>
                </a:solidFill>
                <a:effectLst/>
                <a:latin typeface="Bahnschrift" panose="020B0502040204020203" pitchFamily="34" charset="0"/>
              </a:rPr>
              <a:t>All of these 6 attributes show that number of applicants not asking any questions is highest and number of applicants having difficulty in payment is less for these attributes</a:t>
            </a:r>
          </a:p>
          <a:p>
            <a:pPr algn="l">
              <a:buFont typeface="Arial" panose="020B0604020202020204" pitchFamily="34" charset="0"/>
              <a:buChar char="•"/>
            </a:pPr>
            <a:endParaRPr lang="en-US" sz="1800" dirty="0">
              <a:solidFill>
                <a:srgbClr val="000000"/>
              </a:solidFill>
              <a:latin typeface="Bahnschrift" panose="020B0502040204020203" pitchFamily="34" charset="0"/>
            </a:endParaRPr>
          </a:p>
          <a:p>
            <a:pPr algn="l">
              <a:buFont typeface="Wingdings" panose="05000000000000000000" pitchFamily="2" charset="2"/>
              <a:buChar char="Ø"/>
            </a:pPr>
            <a:r>
              <a:rPr lang="en-US" sz="1800" b="1" i="0" u="sng" dirty="0">
                <a:solidFill>
                  <a:srgbClr val="000000"/>
                </a:solidFill>
                <a:effectLst/>
                <a:latin typeface="Bahnschrift" panose="020B0502040204020203" pitchFamily="34" charset="0"/>
              </a:rPr>
              <a:t>OCCUPATION_TYPE Attribute:</a:t>
            </a:r>
            <a:endParaRPr lang="en-US" sz="1800" i="0" dirty="0">
              <a:solidFill>
                <a:srgbClr val="000000"/>
              </a:solidFill>
              <a:effectLst/>
              <a:latin typeface="Bahnschrift" panose="020B0502040204020203" pitchFamily="34" charset="0"/>
            </a:endParaRPr>
          </a:p>
          <a:p>
            <a:pPr lvl="1">
              <a:buFont typeface="Wingdings" panose="05000000000000000000" pitchFamily="2" charset="2"/>
              <a:buChar char="q"/>
            </a:pPr>
            <a:r>
              <a:rPr lang="en-US" sz="1400" i="0" dirty="0">
                <a:solidFill>
                  <a:srgbClr val="000000"/>
                </a:solidFill>
                <a:effectLst/>
                <a:latin typeface="Bahnschrift" panose="020B0502040204020203" pitchFamily="34" charset="0"/>
              </a:rPr>
              <a:t>The Occupation type is one of the important attributes of this dataset having 30%-40% missing values. The unique counts is as follows:</a:t>
            </a:r>
          </a:p>
          <a:p>
            <a:pPr marL="457200" lvl="1" indent="0">
              <a:buNone/>
            </a:pPr>
            <a:endParaRPr lang="en-US" sz="1400" i="0" dirty="0">
              <a:solidFill>
                <a:srgbClr val="000000"/>
              </a:solidFill>
              <a:effectLst/>
              <a:latin typeface="Bahnschrift" panose="020B0502040204020203" pitchFamily="34" charset="0"/>
            </a:endParaRPr>
          </a:p>
          <a:p>
            <a:pPr marL="0" indent="0">
              <a:buNone/>
            </a:pPr>
            <a:endParaRPr lang="en-IN" sz="1800" dirty="0">
              <a:latin typeface="Bahnschrift" panose="020B0502040204020203" pitchFamily="34" charset="0"/>
            </a:endParaRPr>
          </a:p>
        </p:txBody>
      </p:sp>
      <p:pic>
        <p:nvPicPr>
          <p:cNvPr id="5" name="Picture 4">
            <a:extLst>
              <a:ext uri="{FF2B5EF4-FFF2-40B4-BE49-F238E27FC236}">
                <a16:creationId xmlns:a16="http://schemas.microsoft.com/office/drawing/2014/main" id="{D408A426-33DE-B327-16C6-8D58D6BB80D3}"/>
              </a:ext>
            </a:extLst>
          </p:cNvPr>
          <p:cNvPicPr>
            <a:picLocks noChangeAspect="1"/>
          </p:cNvPicPr>
          <p:nvPr/>
        </p:nvPicPr>
        <p:blipFill>
          <a:blip r:embed="rId2"/>
          <a:stretch>
            <a:fillRect/>
          </a:stretch>
        </p:blipFill>
        <p:spPr>
          <a:xfrm>
            <a:off x="2139874" y="3940021"/>
            <a:ext cx="2356821" cy="2225233"/>
          </a:xfrm>
          <a:prstGeom prst="rect">
            <a:avLst/>
          </a:prstGeom>
          <a:ln>
            <a:solidFill>
              <a:srgbClr val="0070C0"/>
            </a:solidFill>
          </a:ln>
        </p:spPr>
      </p:pic>
      <p:sp>
        <p:nvSpPr>
          <p:cNvPr id="6" name="TextBox 5">
            <a:extLst>
              <a:ext uri="{FF2B5EF4-FFF2-40B4-BE49-F238E27FC236}">
                <a16:creationId xmlns:a16="http://schemas.microsoft.com/office/drawing/2014/main" id="{24B74772-D1A0-B1CC-4667-D4F7DE0F2254}"/>
              </a:ext>
            </a:extLst>
          </p:cNvPr>
          <p:cNvSpPr txBox="1"/>
          <p:nvPr/>
        </p:nvSpPr>
        <p:spPr>
          <a:xfrm>
            <a:off x="5099125" y="3907551"/>
            <a:ext cx="5819887" cy="2092881"/>
          </a:xfrm>
          <a:prstGeom prst="rect">
            <a:avLst/>
          </a:prstGeom>
          <a:noFill/>
          <a:ln>
            <a:solidFill>
              <a:srgbClr val="00B050"/>
            </a:solidFill>
          </a:ln>
        </p:spPr>
        <p:txBody>
          <a:bodyPr wrap="square" rtlCol="0">
            <a:spAutoFit/>
          </a:bodyPr>
          <a:lstStyle/>
          <a:p>
            <a:pPr algn="l">
              <a:buFont typeface="Arial" panose="020B0604020202020204" pitchFamily="34" charset="0"/>
              <a:buChar char="•"/>
            </a:pPr>
            <a:r>
              <a:rPr lang="en-US" sz="1600" b="0" i="0" dirty="0">
                <a:solidFill>
                  <a:srgbClr val="000000"/>
                </a:solidFill>
                <a:effectLst/>
                <a:latin typeface="Bahnschrift" panose="020B0502040204020203" pitchFamily="34" charset="0"/>
              </a:rPr>
              <a:t>There are some missing values in OCCUPATION_TYPE attribute, for these we can say that few persons' professions are unknown might be it has happened during the data collection.</a:t>
            </a:r>
          </a:p>
          <a:p>
            <a:pPr algn="l">
              <a:buFont typeface="Arial" panose="020B0604020202020204" pitchFamily="34" charset="0"/>
              <a:buChar char="•"/>
            </a:pPr>
            <a:r>
              <a:rPr lang="en-US" sz="1600" b="0" i="0" dirty="0">
                <a:solidFill>
                  <a:srgbClr val="000000"/>
                </a:solidFill>
                <a:effectLst/>
                <a:latin typeface="Bahnschrift" panose="020B0502040204020203" pitchFamily="34" charset="0"/>
              </a:rPr>
              <a:t>Though there was a chance of imputing those null instances using the mode but that could make the data biased towards Laborers as the Laborers have higher count</a:t>
            </a:r>
          </a:p>
          <a:p>
            <a:endParaRPr lang="en-IN" dirty="0"/>
          </a:p>
        </p:txBody>
      </p:sp>
    </p:spTree>
    <p:extLst>
      <p:ext uri="{BB962C8B-B14F-4D97-AF65-F5344CB8AC3E}">
        <p14:creationId xmlns:p14="http://schemas.microsoft.com/office/powerpoint/2010/main" val="968757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9F729-2F35-0E37-F41A-C7E08B229A40}"/>
              </a:ext>
            </a:extLst>
          </p:cNvPr>
          <p:cNvSpPr>
            <a:spLocks noGrp="1"/>
          </p:cNvSpPr>
          <p:nvPr>
            <p:ph type="title"/>
          </p:nvPr>
        </p:nvSpPr>
        <p:spPr>
          <a:xfrm>
            <a:off x="838200" y="365126"/>
            <a:ext cx="10515600" cy="646094"/>
          </a:xfrm>
          <a:ln>
            <a:solidFill>
              <a:srgbClr val="FF0000"/>
            </a:solidFill>
          </a:ln>
        </p:spPr>
        <p:txBody>
          <a:bodyPr>
            <a:normAutofit fontScale="90000"/>
          </a:bodyPr>
          <a:lstStyle/>
          <a:p>
            <a:pPr algn="ctr"/>
            <a:r>
              <a:rPr lang="en-IN" sz="2800" b="1" dirty="0">
                <a:latin typeface="Bahnschrift" panose="020B0502040204020203" pitchFamily="34" charset="0"/>
              </a:rPr>
              <a:t>Bivariate Analysis between OCCUPATION_TYPE and AMT_INCOME_TOTAL</a:t>
            </a:r>
          </a:p>
        </p:txBody>
      </p:sp>
      <p:sp>
        <p:nvSpPr>
          <p:cNvPr id="3" name="Content Placeholder 2">
            <a:extLst>
              <a:ext uri="{FF2B5EF4-FFF2-40B4-BE49-F238E27FC236}">
                <a16:creationId xmlns:a16="http://schemas.microsoft.com/office/drawing/2014/main" id="{C811D5D4-FB73-B406-B233-C926CF08A573}"/>
              </a:ext>
            </a:extLst>
          </p:cNvPr>
          <p:cNvSpPr>
            <a:spLocks noGrp="1"/>
          </p:cNvSpPr>
          <p:nvPr>
            <p:ph idx="1"/>
          </p:nvPr>
        </p:nvSpPr>
        <p:spPr>
          <a:xfrm>
            <a:off x="376519" y="1183341"/>
            <a:ext cx="11467650" cy="5432612"/>
          </a:xfrm>
          <a:ln>
            <a:solidFill>
              <a:srgbClr val="0070C0"/>
            </a:solidFill>
          </a:ln>
        </p:spPr>
        <p:txBody>
          <a:bodyPr>
            <a:normAutofit/>
          </a:bodyPr>
          <a:lstStyle/>
          <a:p>
            <a:r>
              <a:rPr lang="en-IN" sz="1800" dirty="0">
                <a:latin typeface="Bahnschrift" panose="020B0502040204020203" pitchFamily="34" charset="0"/>
              </a:rPr>
              <a:t>The total Income of “</a:t>
            </a:r>
            <a:r>
              <a:rPr lang="en-IN" sz="1800" dirty="0" err="1">
                <a:latin typeface="Bahnschrift" panose="020B0502040204020203" pitchFamily="34" charset="0"/>
              </a:rPr>
              <a:t>Laborer</a:t>
            </a:r>
            <a:r>
              <a:rPr lang="en-IN" sz="1800" dirty="0">
                <a:latin typeface="Bahnschrift" panose="020B0502040204020203" pitchFamily="34" charset="0"/>
              </a:rPr>
              <a:t>” group is highest because their count is also highest. So while observing the median income of each group it was found that, the “Managers” group has the highest median salary whereas Laborers come at 9</a:t>
            </a:r>
            <a:r>
              <a:rPr lang="en-IN" sz="1800" baseline="30000" dirty="0">
                <a:latin typeface="Bahnschrift" panose="020B0502040204020203" pitchFamily="34" charset="0"/>
              </a:rPr>
              <a:t>th</a:t>
            </a:r>
            <a:r>
              <a:rPr lang="en-IN" sz="1800" dirty="0">
                <a:latin typeface="Bahnschrift" panose="020B0502040204020203" pitchFamily="34" charset="0"/>
              </a:rPr>
              <a:t> position. </a:t>
            </a:r>
          </a:p>
          <a:p>
            <a:r>
              <a:rPr lang="en-IN" sz="1800" dirty="0">
                <a:latin typeface="Bahnschrift" panose="020B0502040204020203" pitchFamily="34" charset="0"/>
              </a:rPr>
              <a:t>Graphs are as below:</a:t>
            </a:r>
            <a:endParaRPr lang="en-IN" sz="1400" dirty="0">
              <a:latin typeface="Bahnschrift" panose="020B0502040204020203" pitchFamily="34" charset="0"/>
            </a:endParaRPr>
          </a:p>
          <a:p>
            <a:pPr marL="0" indent="0">
              <a:buNone/>
            </a:pPr>
            <a:r>
              <a:rPr lang="en-IN" sz="1400" dirty="0">
                <a:latin typeface="Bahnschrift" panose="020B0502040204020203" pitchFamily="34" charset="0"/>
              </a:rPr>
              <a:t>	</a:t>
            </a:r>
            <a:endParaRPr lang="en-IN" sz="1800" dirty="0">
              <a:latin typeface="Bahnschrift" panose="020B0502040204020203" pitchFamily="34" charset="0"/>
            </a:endParaRPr>
          </a:p>
        </p:txBody>
      </p:sp>
      <p:pic>
        <p:nvPicPr>
          <p:cNvPr id="5" name="Picture 4">
            <a:extLst>
              <a:ext uri="{FF2B5EF4-FFF2-40B4-BE49-F238E27FC236}">
                <a16:creationId xmlns:a16="http://schemas.microsoft.com/office/drawing/2014/main" id="{9FD30163-F995-A201-8F4A-CAE7AB1E9053}"/>
              </a:ext>
            </a:extLst>
          </p:cNvPr>
          <p:cNvPicPr>
            <a:picLocks noChangeAspect="1"/>
          </p:cNvPicPr>
          <p:nvPr/>
        </p:nvPicPr>
        <p:blipFill>
          <a:blip r:embed="rId2"/>
          <a:stretch>
            <a:fillRect/>
          </a:stretch>
        </p:blipFill>
        <p:spPr>
          <a:xfrm>
            <a:off x="401535" y="2474259"/>
            <a:ext cx="5694465" cy="3851237"/>
          </a:xfrm>
          <a:prstGeom prst="rect">
            <a:avLst/>
          </a:prstGeom>
          <a:ln>
            <a:solidFill>
              <a:srgbClr val="0070C0"/>
            </a:solidFill>
          </a:ln>
        </p:spPr>
      </p:pic>
      <p:pic>
        <p:nvPicPr>
          <p:cNvPr id="7" name="Picture 6">
            <a:extLst>
              <a:ext uri="{FF2B5EF4-FFF2-40B4-BE49-F238E27FC236}">
                <a16:creationId xmlns:a16="http://schemas.microsoft.com/office/drawing/2014/main" id="{678577F5-FC65-1A57-1EFA-E2252E84FC8C}"/>
              </a:ext>
            </a:extLst>
          </p:cNvPr>
          <p:cNvPicPr>
            <a:picLocks noChangeAspect="1"/>
          </p:cNvPicPr>
          <p:nvPr/>
        </p:nvPicPr>
        <p:blipFill>
          <a:blip r:embed="rId3"/>
          <a:stretch>
            <a:fillRect/>
          </a:stretch>
        </p:blipFill>
        <p:spPr>
          <a:xfrm>
            <a:off x="6121016" y="2474259"/>
            <a:ext cx="5669449" cy="3851237"/>
          </a:xfrm>
          <a:prstGeom prst="rect">
            <a:avLst/>
          </a:prstGeom>
          <a:ln>
            <a:solidFill>
              <a:srgbClr val="0070C0"/>
            </a:solidFill>
          </a:ln>
        </p:spPr>
      </p:pic>
    </p:spTree>
    <p:extLst>
      <p:ext uri="{BB962C8B-B14F-4D97-AF65-F5344CB8AC3E}">
        <p14:creationId xmlns:p14="http://schemas.microsoft.com/office/powerpoint/2010/main" val="18633330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F0132-3712-231A-78C2-70041903408A}"/>
              </a:ext>
            </a:extLst>
          </p:cNvPr>
          <p:cNvSpPr>
            <a:spLocks noGrp="1"/>
          </p:cNvSpPr>
          <p:nvPr>
            <p:ph type="title"/>
          </p:nvPr>
        </p:nvSpPr>
        <p:spPr>
          <a:ln>
            <a:solidFill>
              <a:srgbClr val="FF0000"/>
            </a:solidFill>
          </a:ln>
        </p:spPr>
        <p:txBody>
          <a:bodyPr>
            <a:normAutofit/>
          </a:bodyPr>
          <a:lstStyle/>
          <a:p>
            <a:pPr algn="ctr"/>
            <a:r>
              <a:rPr lang="en-IN" sz="2800" b="1" dirty="0">
                <a:latin typeface="Bahnschrift" panose="020B0502040204020203" pitchFamily="34" charset="0"/>
              </a:rPr>
              <a:t>Multivariate Analysis among OCCUPATION_TYPE, AMT_INCOME_TOTAL &amp; ‘TARGET’</a:t>
            </a:r>
          </a:p>
        </p:txBody>
      </p:sp>
      <p:sp>
        <p:nvSpPr>
          <p:cNvPr id="3" name="Content Placeholder 2">
            <a:extLst>
              <a:ext uri="{FF2B5EF4-FFF2-40B4-BE49-F238E27FC236}">
                <a16:creationId xmlns:a16="http://schemas.microsoft.com/office/drawing/2014/main" id="{9BB3DC57-826A-5D81-35F5-0FBC80A6EE3C}"/>
              </a:ext>
            </a:extLst>
          </p:cNvPr>
          <p:cNvSpPr>
            <a:spLocks noGrp="1"/>
          </p:cNvSpPr>
          <p:nvPr>
            <p:ph idx="1"/>
          </p:nvPr>
        </p:nvSpPr>
        <p:spPr>
          <a:xfrm>
            <a:off x="204395" y="1825624"/>
            <a:ext cx="11811897" cy="5032376"/>
          </a:xfrm>
          <a:ln>
            <a:solidFill>
              <a:srgbClr val="0070C0"/>
            </a:solidFill>
          </a:ln>
        </p:spPr>
        <p:txBody>
          <a:bodyPr>
            <a:normAutofit/>
          </a:bodyPr>
          <a:lstStyle/>
          <a:p>
            <a:pPr>
              <a:buFont typeface="Wingdings" panose="05000000000000000000" pitchFamily="2" charset="2"/>
              <a:buChar char="q"/>
            </a:pPr>
            <a:r>
              <a:rPr lang="en-IN" sz="1800" dirty="0">
                <a:latin typeface="Bahnschrift" panose="020B0502040204020203" pitchFamily="34" charset="0"/>
              </a:rPr>
              <a:t>Checking the count of payment Difficulties and non-difficulties grouped by OCCUPATION_TYPE</a:t>
            </a:r>
          </a:p>
          <a:p>
            <a:pPr marL="0" indent="0">
              <a:buNone/>
            </a:pPr>
            <a:r>
              <a:rPr lang="en-IN" sz="1800" dirty="0">
                <a:latin typeface="Bahnschrift" panose="020B0502040204020203" pitchFamily="34" charset="0"/>
              </a:rPr>
              <a:t>	</a:t>
            </a:r>
          </a:p>
        </p:txBody>
      </p:sp>
      <p:pic>
        <p:nvPicPr>
          <p:cNvPr id="5" name="Picture 4">
            <a:extLst>
              <a:ext uri="{FF2B5EF4-FFF2-40B4-BE49-F238E27FC236}">
                <a16:creationId xmlns:a16="http://schemas.microsoft.com/office/drawing/2014/main" id="{AC9BCC2C-EDF8-453B-39F4-1AAB62EF7A1D}"/>
              </a:ext>
            </a:extLst>
          </p:cNvPr>
          <p:cNvPicPr>
            <a:picLocks noChangeAspect="1"/>
          </p:cNvPicPr>
          <p:nvPr/>
        </p:nvPicPr>
        <p:blipFill>
          <a:blip r:embed="rId2"/>
          <a:stretch>
            <a:fillRect/>
          </a:stretch>
        </p:blipFill>
        <p:spPr>
          <a:xfrm>
            <a:off x="733915" y="2252447"/>
            <a:ext cx="2665501" cy="4116079"/>
          </a:xfrm>
          <a:prstGeom prst="rect">
            <a:avLst/>
          </a:prstGeom>
          <a:ln>
            <a:solidFill>
              <a:srgbClr val="0070C0"/>
            </a:solidFill>
          </a:ln>
        </p:spPr>
      </p:pic>
      <p:sp>
        <p:nvSpPr>
          <p:cNvPr id="6" name="TextBox 5">
            <a:extLst>
              <a:ext uri="{FF2B5EF4-FFF2-40B4-BE49-F238E27FC236}">
                <a16:creationId xmlns:a16="http://schemas.microsoft.com/office/drawing/2014/main" id="{45B9A84D-BF5E-F90C-5B50-45CEFFC6A0F1}"/>
              </a:ext>
            </a:extLst>
          </p:cNvPr>
          <p:cNvSpPr txBox="1"/>
          <p:nvPr/>
        </p:nvSpPr>
        <p:spPr>
          <a:xfrm>
            <a:off x="3517750" y="3387101"/>
            <a:ext cx="2345168" cy="830997"/>
          </a:xfrm>
          <a:prstGeom prst="rect">
            <a:avLst/>
          </a:prstGeom>
          <a:noFill/>
          <a:ln>
            <a:solidFill>
              <a:srgbClr val="00B050"/>
            </a:solidFill>
          </a:ln>
        </p:spPr>
        <p:txBody>
          <a:bodyPr wrap="square" rtlCol="0">
            <a:spAutoFit/>
          </a:bodyPr>
          <a:lstStyle/>
          <a:p>
            <a:pPr marL="285750" indent="-285750">
              <a:buFont typeface="Arial" panose="020B0604020202020204" pitchFamily="34" charset="0"/>
              <a:buChar char="•"/>
            </a:pPr>
            <a:r>
              <a:rPr lang="en-IN" sz="1200" dirty="0">
                <a:latin typeface="Bahnschrift" panose="020B0502040204020203" pitchFamily="34" charset="0"/>
              </a:rPr>
              <a:t>TARGET -&gt; 1 implies to payment difficulties</a:t>
            </a:r>
          </a:p>
          <a:p>
            <a:pPr marL="285750" indent="-285750">
              <a:buFont typeface="Arial" panose="020B0604020202020204" pitchFamily="34" charset="0"/>
              <a:buChar char="•"/>
            </a:pPr>
            <a:r>
              <a:rPr lang="en-IN" sz="1200" dirty="0">
                <a:latin typeface="Bahnschrift" panose="020B0502040204020203" pitchFamily="34" charset="0"/>
              </a:rPr>
              <a:t>TARGET -&gt; 0 implies to payment non-difficulties</a:t>
            </a:r>
          </a:p>
        </p:txBody>
      </p:sp>
      <p:sp>
        <p:nvSpPr>
          <p:cNvPr id="7" name="TextBox 6">
            <a:extLst>
              <a:ext uri="{FF2B5EF4-FFF2-40B4-BE49-F238E27FC236}">
                <a16:creationId xmlns:a16="http://schemas.microsoft.com/office/drawing/2014/main" id="{1B2E1E1D-B90E-5D5E-D158-C075C8972282}"/>
              </a:ext>
            </a:extLst>
          </p:cNvPr>
          <p:cNvSpPr txBox="1"/>
          <p:nvPr/>
        </p:nvSpPr>
        <p:spPr>
          <a:xfrm>
            <a:off x="6096000" y="2252447"/>
            <a:ext cx="5507916" cy="584775"/>
          </a:xfrm>
          <a:prstGeom prst="rect">
            <a:avLst/>
          </a:prstGeom>
          <a:noFill/>
          <a:ln>
            <a:solidFill>
              <a:srgbClr val="00B050"/>
            </a:solidFill>
          </a:ln>
        </p:spPr>
        <p:txBody>
          <a:bodyPr wrap="square" rtlCol="0">
            <a:spAutoFit/>
          </a:bodyPr>
          <a:lstStyle/>
          <a:p>
            <a:r>
              <a:rPr lang="en-IN" sz="1600" dirty="0">
                <a:latin typeface="Bahnschrift" panose="020B0502040204020203" pitchFamily="34" charset="0"/>
              </a:rPr>
              <a:t>Sorting the count of persons having Loan paying difficulties across all occupation type</a:t>
            </a:r>
          </a:p>
        </p:txBody>
      </p:sp>
      <p:pic>
        <p:nvPicPr>
          <p:cNvPr id="9" name="Picture 8">
            <a:extLst>
              <a:ext uri="{FF2B5EF4-FFF2-40B4-BE49-F238E27FC236}">
                <a16:creationId xmlns:a16="http://schemas.microsoft.com/office/drawing/2014/main" id="{99716B45-C9BA-64C7-7E23-8438A222A1D3}"/>
              </a:ext>
            </a:extLst>
          </p:cNvPr>
          <p:cNvPicPr>
            <a:picLocks noChangeAspect="1"/>
          </p:cNvPicPr>
          <p:nvPr/>
        </p:nvPicPr>
        <p:blipFill>
          <a:blip r:embed="rId3"/>
          <a:stretch>
            <a:fillRect/>
          </a:stretch>
        </p:blipFill>
        <p:spPr>
          <a:xfrm>
            <a:off x="5981252" y="2972158"/>
            <a:ext cx="2479715" cy="2707880"/>
          </a:xfrm>
          <a:prstGeom prst="rect">
            <a:avLst/>
          </a:prstGeom>
          <a:ln>
            <a:solidFill>
              <a:srgbClr val="0070C0"/>
            </a:solidFill>
          </a:ln>
        </p:spPr>
      </p:pic>
      <p:sp>
        <p:nvSpPr>
          <p:cNvPr id="10" name="TextBox 9">
            <a:extLst>
              <a:ext uri="{FF2B5EF4-FFF2-40B4-BE49-F238E27FC236}">
                <a16:creationId xmlns:a16="http://schemas.microsoft.com/office/drawing/2014/main" id="{61D0A7C9-69C4-AA40-20F8-DCF232897DEF}"/>
              </a:ext>
            </a:extLst>
          </p:cNvPr>
          <p:cNvSpPr txBox="1"/>
          <p:nvPr/>
        </p:nvSpPr>
        <p:spPr>
          <a:xfrm>
            <a:off x="8546953" y="2955150"/>
            <a:ext cx="3351005" cy="3416320"/>
          </a:xfrm>
          <a:prstGeom prst="rect">
            <a:avLst/>
          </a:prstGeom>
          <a:noFill/>
          <a:ln>
            <a:solidFill>
              <a:srgbClr val="00B050"/>
            </a:solidFill>
          </a:ln>
        </p:spPr>
        <p:txBody>
          <a:bodyPr wrap="square" rtlCol="0">
            <a:spAutoFit/>
          </a:bodyPr>
          <a:lstStyle/>
          <a:p>
            <a:r>
              <a:rPr lang="en-IN" u="sng" dirty="0">
                <a:latin typeface="Bahnschrift" panose="020B0502040204020203" pitchFamily="34" charset="0"/>
              </a:rPr>
              <a:t>Observation:</a:t>
            </a:r>
            <a:endParaRPr lang="en-IN" dirty="0">
              <a:latin typeface="Bahnschrift" panose="020B0502040204020203" pitchFamily="34" charset="0"/>
            </a:endParaRPr>
          </a:p>
          <a:p>
            <a:pPr algn="l">
              <a:buFont typeface="Arial" panose="020B0604020202020204" pitchFamily="34" charset="0"/>
              <a:buChar char="•"/>
            </a:pPr>
            <a:r>
              <a:rPr lang="en-US" sz="1200" b="0" i="0" dirty="0">
                <a:solidFill>
                  <a:srgbClr val="000000"/>
                </a:solidFill>
                <a:effectLst/>
                <a:latin typeface="Bahnschrift" panose="020B0502040204020203" pitchFamily="34" charset="0"/>
              </a:rPr>
              <a:t>Though there was a chance of imputing those null instances using the mode but that could make the data biased towards Laborers as the Laborers have higher count.</a:t>
            </a:r>
          </a:p>
          <a:p>
            <a:pPr algn="l">
              <a:buFont typeface="Arial" panose="020B0604020202020204" pitchFamily="34" charset="0"/>
              <a:buChar char="•"/>
            </a:pPr>
            <a:r>
              <a:rPr lang="en-US" sz="1200" b="0" i="0" dirty="0">
                <a:solidFill>
                  <a:srgbClr val="000000"/>
                </a:solidFill>
                <a:effectLst/>
                <a:latin typeface="Bahnschrift" panose="020B0502040204020203" pitchFamily="34" charset="0"/>
              </a:rPr>
              <a:t>Though the Laborers category have highest total income but inspecting the median income of all the categories, it's found that Laborers came at 9th position whereas Managers have highest Median Income.</a:t>
            </a:r>
          </a:p>
          <a:p>
            <a:pPr algn="l">
              <a:buFont typeface="Arial" panose="020B0604020202020204" pitchFamily="34" charset="0"/>
              <a:buChar char="•"/>
            </a:pPr>
            <a:r>
              <a:rPr lang="en-US" sz="1200" b="0" i="0" dirty="0">
                <a:solidFill>
                  <a:srgbClr val="000000"/>
                </a:solidFill>
                <a:effectLst/>
                <a:latin typeface="Bahnschrift" panose="020B0502040204020203" pitchFamily="34" charset="0"/>
              </a:rPr>
              <a:t>Count wise Managers are coming at 5th position as having loan payment difficulties</a:t>
            </a:r>
          </a:p>
          <a:p>
            <a:pPr algn="l">
              <a:buFont typeface="Arial" panose="020B0604020202020204" pitchFamily="34" charset="0"/>
              <a:buChar char="•"/>
            </a:pPr>
            <a:r>
              <a:rPr lang="en-US" sz="1200" b="0" i="0" dirty="0">
                <a:solidFill>
                  <a:srgbClr val="000000"/>
                </a:solidFill>
                <a:effectLst/>
                <a:latin typeface="Bahnschrift" panose="020B0502040204020203" pitchFamily="34" charset="0"/>
              </a:rPr>
              <a:t>From all these observations this OCCUPATION_TYPE and AMT_INCOME_TOTAL seem to be very useful attributes for deciding Loan Payment Difficulty</a:t>
            </a:r>
          </a:p>
          <a:p>
            <a:endParaRPr lang="en-IN" u="sng" dirty="0">
              <a:latin typeface="Bahnschrift" panose="020B0502040204020203" pitchFamily="34" charset="0"/>
            </a:endParaRPr>
          </a:p>
        </p:txBody>
      </p:sp>
    </p:spTree>
    <p:extLst>
      <p:ext uri="{BB962C8B-B14F-4D97-AF65-F5344CB8AC3E}">
        <p14:creationId xmlns:p14="http://schemas.microsoft.com/office/powerpoint/2010/main" val="4263120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B8449-4F29-75BC-337E-D57A9901416C}"/>
              </a:ext>
            </a:extLst>
          </p:cNvPr>
          <p:cNvSpPr>
            <a:spLocks noGrp="1"/>
          </p:cNvSpPr>
          <p:nvPr>
            <p:ph type="title"/>
          </p:nvPr>
        </p:nvSpPr>
        <p:spPr>
          <a:xfrm>
            <a:off x="838200" y="365126"/>
            <a:ext cx="10515600" cy="635336"/>
          </a:xfrm>
          <a:ln>
            <a:solidFill>
              <a:srgbClr val="FF0000"/>
            </a:solidFill>
          </a:ln>
        </p:spPr>
        <p:txBody>
          <a:bodyPr>
            <a:normAutofit/>
          </a:bodyPr>
          <a:lstStyle/>
          <a:p>
            <a:pPr algn="ctr"/>
            <a:r>
              <a:rPr lang="en-IN" sz="2800" dirty="0">
                <a:latin typeface="Bahnschrift" panose="020B0502040204020203" pitchFamily="34" charset="0"/>
              </a:rPr>
              <a:t>Handling the columns having 40 – 50 % null values</a:t>
            </a:r>
          </a:p>
        </p:txBody>
      </p:sp>
      <p:sp>
        <p:nvSpPr>
          <p:cNvPr id="3" name="Content Placeholder 2">
            <a:extLst>
              <a:ext uri="{FF2B5EF4-FFF2-40B4-BE49-F238E27FC236}">
                <a16:creationId xmlns:a16="http://schemas.microsoft.com/office/drawing/2014/main" id="{95CE989E-6099-89A4-1A60-CD5800AB88C5}"/>
              </a:ext>
            </a:extLst>
          </p:cNvPr>
          <p:cNvSpPr>
            <a:spLocks noGrp="1"/>
          </p:cNvSpPr>
          <p:nvPr>
            <p:ph idx="1"/>
          </p:nvPr>
        </p:nvSpPr>
        <p:spPr>
          <a:xfrm>
            <a:off x="268941" y="1194098"/>
            <a:ext cx="11596744" cy="5507915"/>
          </a:xfrm>
          <a:ln>
            <a:solidFill>
              <a:srgbClr val="0070C0"/>
            </a:solidFill>
          </a:ln>
        </p:spPr>
        <p:txBody>
          <a:bodyPr>
            <a:normAutofit/>
          </a:bodyPr>
          <a:lstStyle/>
          <a:p>
            <a:pPr>
              <a:buFont typeface="Wingdings" panose="05000000000000000000" pitchFamily="2" charset="2"/>
              <a:buChar char="q"/>
            </a:pPr>
            <a:r>
              <a:rPr lang="en-IN" sz="1600" dirty="0">
                <a:latin typeface="Bahnschrift" panose="020B0502040204020203" pitchFamily="34" charset="0"/>
              </a:rPr>
              <a:t> The attributes which come under this category are: 'YEARS_BEGINEXPLUATATION_AVG','FLOORSMAX_AVG','YEARS_BEGINEXPLUATATION_MODE','FLOORSMAX_MODE','YEARS_BEGINEXPLUATATION_MEDI','FLOORSMAX_MEDI','TOTALAREA_MODE','EMERGENCYSTATE_MODE’</a:t>
            </a:r>
          </a:p>
          <a:p>
            <a:pPr>
              <a:buFont typeface="Wingdings" panose="05000000000000000000" pitchFamily="2" charset="2"/>
              <a:buChar char="q"/>
            </a:pPr>
            <a:r>
              <a:rPr lang="en-IN" sz="1600" dirty="0">
                <a:latin typeface="Bahnschrift" panose="020B0502040204020203" pitchFamily="34" charset="0"/>
              </a:rPr>
              <a:t> Distribution of these attributes are as below:</a:t>
            </a:r>
          </a:p>
          <a:p>
            <a:pPr marL="0" indent="0">
              <a:buNone/>
            </a:pPr>
            <a:r>
              <a:rPr lang="en-IN" sz="1600" dirty="0">
                <a:latin typeface="Bahnschrift" panose="020B0502040204020203" pitchFamily="34" charset="0"/>
              </a:rPr>
              <a:t>	</a:t>
            </a:r>
          </a:p>
        </p:txBody>
      </p:sp>
      <p:pic>
        <p:nvPicPr>
          <p:cNvPr id="6" name="Picture 5">
            <a:extLst>
              <a:ext uri="{FF2B5EF4-FFF2-40B4-BE49-F238E27FC236}">
                <a16:creationId xmlns:a16="http://schemas.microsoft.com/office/drawing/2014/main" id="{25C162EC-E9AD-F895-622D-BCB06A3E0786}"/>
              </a:ext>
            </a:extLst>
          </p:cNvPr>
          <p:cNvPicPr>
            <a:picLocks noChangeAspect="1"/>
          </p:cNvPicPr>
          <p:nvPr/>
        </p:nvPicPr>
        <p:blipFill>
          <a:blip r:embed="rId2"/>
          <a:stretch>
            <a:fillRect/>
          </a:stretch>
        </p:blipFill>
        <p:spPr>
          <a:xfrm>
            <a:off x="450925" y="2295137"/>
            <a:ext cx="7087214" cy="4197737"/>
          </a:xfrm>
          <a:prstGeom prst="rect">
            <a:avLst/>
          </a:prstGeom>
          <a:ln>
            <a:solidFill>
              <a:srgbClr val="0070C0"/>
            </a:solidFill>
          </a:ln>
        </p:spPr>
      </p:pic>
      <p:sp>
        <p:nvSpPr>
          <p:cNvPr id="7" name="TextBox 6">
            <a:extLst>
              <a:ext uri="{FF2B5EF4-FFF2-40B4-BE49-F238E27FC236}">
                <a16:creationId xmlns:a16="http://schemas.microsoft.com/office/drawing/2014/main" id="{2F83263C-EDE1-0502-BCD2-D1470ECCA9AF}"/>
              </a:ext>
            </a:extLst>
          </p:cNvPr>
          <p:cNvSpPr txBox="1"/>
          <p:nvPr/>
        </p:nvSpPr>
        <p:spPr>
          <a:xfrm>
            <a:off x="7885355" y="2388198"/>
            <a:ext cx="3377901" cy="2862322"/>
          </a:xfrm>
          <a:prstGeom prst="rect">
            <a:avLst/>
          </a:prstGeom>
          <a:noFill/>
          <a:ln>
            <a:solidFill>
              <a:srgbClr val="00B050"/>
            </a:solidFill>
          </a:ln>
        </p:spPr>
        <p:txBody>
          <a:bodyPr wrap="square" rtlCol="0">
            <a:spAutoFit/>
          </a:bodyPr>
          <a:lstStyle/>
          <a:p>
            <a:pPr marL="285750" indent="-285750">
              <a:buFont typeface="Arial" panose="020B0604020202020204" pitchFamily="34" charset="0"/>
              <a:buChar char="•"/>
            </a:pPr>
            <a:r>
              <a:rPr lang="en-US" b="0" i="0" dirty="0">
                <a:solidFill>
                  <a:srgbClr val="000000"/>
                </a:solidFill>
                <a:effectLst/>
                <a:latin typeface="Bahnschrift" panose="020B0502040204020203" pitchFamily="34" charset="0"/>
              </a:rPr>
              <a:t>All these attributes are skewed and intuitively don't seem to be much useful for Loan approval (By Intuition). </a:t>
            </a:r>
          </a:p>
          <a:p>
            <a:pPr marL="285750" indent="-285750">
              <a:buFont typeface="Arial" panose="020B0604020202020204" pitchFamily="34" charset="0"/>
              <a:buChar char="•"/>
            </a:pPr>
            <a:r>
              <a:rPr lang="en-US" b="0" i="0" dirty="0">
                <a:solidFill>
                  <a:srgbClr val="000000"/>
                </a:solidFill>
                <a:effectLst/>
                <a:latin typeface="Bahnschrift" panose="020B0502040204020203" pitchFamily="34" charset="0"/>
              </a:rPr>
              <a:t>But still I have validated few things on these attributes, hence merged two </a:t>
            </a:r>
            <a:r>
              <a:rPr lang="en-US" b="0" i="0" dirty="0" err="1">
                <a:solidFill>
                  <a:srgbClr val="000000"/>
                </a:solidFill>
                <a:effectLst/>
                <a:latin typeface="Bahnschrift" panose="020B0502040204020203" pitchFamily="34" charset="0"/>
              </a:rPr>
              <a:t>dataframes</a:t>
            </a:r>
            <a:r>
              <a:rPr lang="en-US" b="0" i="0" dirty="0">
                <a:solidFill>
                  <a:srgbClr val="000000"/>
                </a:solidFill>
                <a:effectLst/>
                <a:latin typeface="Bahnschrift" panose="020B0502040204020203" pitchFamily="34" charset="0"/>
              </a:rPr>
              <a:t> (</a:t>
            </a:r>
            <a:r>
              <a:rPr lang="en-US" b="0" i="0" dirty="0" err="1">
                <a:solidFill>
                  <a:srgbClr val="000000"/>
                </a:solidFill>
                <a:effectLst/>
                <a:latin typeface="Bahnschrift" panose="020B0502040204020203" pitchFamily="34" charset="0"/>
              </a:rPr>
              <a:t>application_data</a:t>
            </a:r>
            <a:r>
              <a:rPr lang="en-US" b="0" i="0" dirty="0">
                <a:solidFill>
                  <a:srgbClr val="000000"/>
                </a:solidFill>
                <a:effectLst/>
                <a:latin typeface="Bahnschrift" panose="020B0502040204020203" pitchFamily="34" charset="0"/>
              </a:rPr>
              <a:t> and </a:t>
            </a:r>
            <a:r>
              <a:rPr lang="en-US" b="0" i="0" dirty="0" err="1">
                <a:solidFill>
                  <a:srgbClr val="000000"/>
                </a:solidFill>
                <a:effectLst/>
                <a:latin typeface="Bahnschrift" panose="020B0502040204020203" pitchFamily="34" charset="0"/>
              </a:rPr>
              <a:t>previous_application</a:t>
            </a:r>
            <a:r>
              <a:rPr lang="en-US" dirty="0">
                <a:solidFill>
                  <a:srgbClr val="000000"/>
                </a:solidFill>
                <a:latin typeface="Bahnschrift" panose="020B0502040204020203" pitchFamily="34" charset="0"/>
              </a:rPr>
              <a:t>)</a:t>
            </a:r>
            <a:endParaRPr lang="en-US" b="0" i="0" dirty="0">
              <a:solidFill>
                <a:srgbClr val="000000"/>
              </a:solidFill>
              <a:effectLst/>
              <a:latin typeface="Bahnschrift" panose="020B0502040204020203" pitchFamily="34" charset="0"/>
            </a:endParaRPr>
          </a:p>
        </p:txBody>
      </p:sp>
    </p:spTree>
    <p:extLst>
      <p:ext uri="{BB962C8B-B14F-4D97-AF65-F5344CB8AC3E}">
        <p14:creationId xmlns:p14="http://schemas.microsoft.com/office/powerpoint/2010/main" val="26105378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BADDB-A3AF-ED45-C90C-D52811EBAD85}"/>
              </a:ext>
            </a:extLst>
          </p:cNvPr>
          <p:cNvSpPr>
            <a:spLocks noGrp="1"/>
          </p:cNvSpPr>
          <p:nvPr>
            <p:ph type="title"/>
          </p:nvPr>
        </p:nvSpPr>
        <p:spPr>
          <a:xfrm>
            <a:off x="838200" y="365126"/>
            <a:ext cx="10515600" cy="635336"/>
          </a:xfrm>
          <a:ln>
            <a:solidFill>
              <a:srgbClr val="FF0000"/>
            </a:solidFill>
          </a:ln>
        </p:spPr>
        <p:txBody>
          <a:bodyPr>
            <a:normAutofit/>
          </a:bodyPr>
          <a:lstStyle/>
          <a:p>
            <a:pPr algn="ctr"/>
            <a:r>
              <a:rPr lang="en-IN" sz="2800" dirty="0">
                <a:latin typeface="Bahnschrift" panose="020B0502040204020203" pitchFamily="34" charset="0"/>
              </a:rPr>
              <a:t>Few points on merged dataset </a:t>
            </a:r>
          </a:p>
        </p:txBody>
      </p:sp>
      <p:sp>
        <p:nvSpPr>
          <p:cNvPr id="3" name="Content Placeholder 2">
            <a:extLst>
              <a:ext uri="{FF2B5EF4-FFF2-40B4-BE49-F238E27FC236}">
                <a16:creationId xmlns:a16="http://schemas.microsoft.com/office/drawing/2014/main" id="{EEEC4202-43DB-8832-BE76-231E4EEF945C}"/>
              </a:ext>
            </a:extLst>
          </p:cNvPr>
          <p:cNvSpPr>
            <a:spLocks noGrp="1"/>
          </p:cNvSpPr>
          <p:nvPr>
            <p:ph idx="1"/>
          </p:nvPr>
        </p:nvSpPr>
        <p:spPr>
          <a:xfrm>
            <a:off x="161365" y="1204856"/>
            <a:ext cx="11811896" cy="5475643"/>
          </a:xfrm>
          <a:ln>
            <a:solidFill>
              <a:srgbClr val="0070C0"/>
            </a:solidFill>
          </a:ln>
        </p:spPr>
        <p:txBody>
          <a:bodyPr/>
          <a:lstStyle/>
          <a:p>
            <a:r>
              <a:rPr lang="en-IN" sz="1800" dirty="0">
                <a:latin typeface="Bahnschrift" panose="020B0502040204020203" pitchFamily="34" charset="0"/>
              </a:rPr>
              <a:t>In the merged dataset Target variable has 4 categories: “Approved”, “Cancelled”, “Refused” and “Unused offer” and count of these are as follows:</a:t>
            </a:r>
          </a:p>
          <a:p>
            <a:pPr marL="0" indent="0">
              <a:buNone/>
            </a:pPr>
            <a:r>
              <a:rPr lang="en-IN" dirty="0"/>
              <a:t>	 </a:t>
            </a:r>
          </a:p>
          <a:p>
            <a:pPr marL="0" indent="0">
              <a:buNone/>
            </a:pPr>
            <a:endParaRPr lang="en-IN" dirty="0"/>
          </a:p>
          <a:p>
            <a:r>
              <a:rPr lang="en-IN" sz="1800" dirty="0">
                <a:latin typeface="Bahnschrift" panose="020B0502040204020203" pitchFamily="34" charset="0"/>
              </a:rPr>
              <a:t>The ‘TARGET’ variable’s categories have maintained their percentage weight properly:</a:t>
            </a:r>
          </a:p>
          <a:p>
            <a:endParaRPr lang="en-IN" sz="1800" dirty="0">
              <a:latin typeface="Bahnschrift" panose="020B0502040204020203" pitchFamily="34" charset="0"/>
            </a:endParaRPr>
          </a:p>
          <a:p>
            <a:endParaRPr lang="en-IN" sz="1800" dirty="0">
              <a:latin typeface="Bahnschrift" panose="020B0502040204020203" pitchFamily="34" charset="0"/>
            </a:endParaRPr>
          </a:p>
          <a:p>
            <a:endParaRPr lang="en-IN" sz="1800" dirty="0">
              <a:latin typeface="Bahnschrift" panose="020B0502040204020203" pitchFamily="34" charset="0"/>
            </a:endParaRPr>
          </a:p>
          <a:p>
            <a:r>
              <a:rPr lang="en-IN" sz="1800" dirty="0">
                <a:latin typeface="Bahnschrift" panose="020B0502040204020203" pitchFamily="34" charset="0"/>
              </a:rPr>
              <a:t>I observed that </a:t>
            </a:r>
            <a:r>
              <a:rPr lang="en-US" sz="1800" dirty="0">
                <a:latin typeface="Bahnschrift" panose="020B0502040204020203" pitchFamily="34" charset="0"/>
              </a:rPr>
              <a:t>previously around 30% customers had null values for these attributes but loan had been approved for them.</a:t>
            </a:r>
          </a:p>
          <a:p>
            <a:r>
              <a:rPr lang="en-US" sz="1800" dirty="0">
                <a:latin typeface="Bahnschrift" panose="020B0502040204020203" pitchFamily="34" charset="0"/>
              </a:rPr>
              <a:t>Going forward will remove these columns, but there is a scope of using Hypothesis testing in this scenario to prove the significance of these properties. As of now , I have used my intuition and assumptions in many cases.</a:t>
            </a:r>
            <a:endParaRPr lang="en-IN" sz="1800" dirty="0">
              <a:latin typeface="Bahnschrift" panose="020B0502040204020203" pitchFamily="34" charset="0"/>
            </a:endParaRPr>
          </a:p>
          <a:p>
            <a:pPr marL="0" indent="0">
              <a:buNone/>
            </a:pPr>
            <a:endParaRPr lang="en-IN" dirty="0"/>
          </a:p>
        </p:txBody>
      </p:sp>
      <p:pic>
        <p:nvPicPr>
          <p:cNvPr id="5" name="Picture 4">
            <a:extLst>
              <a:ext uri="{FF2B5EF4-FFF2-40B4-BE49-F238E27FC236}">
                <a16:creationId xmlns:a16="http://schemas.microsoft.com/office/drawing/2014/main" id="{72DB2B18-66ED-CF88-EE88-86DB7857B92A}"/>
              </a:ext>
            </a:extLst>
          </p:cNvPr>
          <p:cNvPicPr>
            <a:picLocks noChangeAspect="1"/>
          </p:cNvPicPr>
          <p:nvPr/>
        </p:nvPicPr>
        <p:blipFill>
          <a:blip r:embed="rId2"/>
          <a:stretch>
            <a:fillRect/>
          </a:stretch>
        </p:blipFill>
        <p:spPr>
          <a:xfrm>
            <a:off x="580015" y="1855001"/>
            <a:ext cx="2916219" cy="931230"/>
          </a:xfrm>
          <a:prstGeom prst="rect">
            <a:avLst/>
          </a:prstGeom>
          <a:ln>
            <a:solidFill>
              <a:srgbClr val="0070C0"/>
            </a:solidFill>
          </a:ln>
        </p:spPr>
      </p:pic>
      <p:pic>
        <p:nvPicPr>
          <p:cNvPr id="7" name="Picture 6">
            <a:extLst>
              <a:ext uri="{FF2B5EF4-FFF2-40B4-BE49-F238E27FC236}">
                <a16:creationId xmlns:a16="http://schemas.microsoft.com/office/drawing/2014/main" id="{9BED55FC-7E45-8BEA-8307-87CE4F8A0030}"/>
              </a:ext>
            </a:extLst>
          </p:cNvPr>
          <p:cNvPicPr>
            <a:picLocks noChangeAspect="1"/>
          </p:cNvPicPr>
          <p:nvPr/>
        </p:nvPicPr>
        <p:blipFill>
          <a:blip r:embed="rId3"/>
          <a:stretch>
            <a:fillRect/>
          </a:stretch>
        </p:blipFill>
        <p:spPr>
          <a:xfrm>
            <a:off x="4609203" y="1818041"/>
            <a:ext cx="2916219" cy="968190"/>
          </a:xfrm>
          <a:prstGeom prst="rect">
            <a:avLst/>
          </a:prstGeom>
          <a:ln>
            <a:solidFill>
              <a:srgbClr val="0070C0"/>
            </a:solidFill>
          </a:ln>
        </p:spPr>
      </p:pic>
      <p:sp>
        <p:nvSpPr>
          <p:cNvPr id="8" name="Arrow: Right 7">
            <a:extLst>
              <a:ext uri="{FF2B5EF4-FFF2-40B4-BE49-F238E27FC236}">
                <a16:creationId xmlns:a16="http://schemas.microsoft.com/office/drawing/2014/main" id="{A63C4815-E493-7655-BA56-6BA6C4E962A7}"/>
              </a:ext>
            </a:extLst>
          </p:cNvPr>
          <p:cNvSpPr/>
          <p:nvPr/>
        </p:nvSpPr>
        <p:spPr>
          <a:xfrm>
            <a:off x="3665055" y="2140771"/>
            <a:ext cx="613186" cy="27969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9">
            <a:extLst>
              <a:ext uri="{FF2B5EF4-FFF2-40B4-BE49-F238E27FC236}">
                <a16:creationId xmlns:a16="http://schemas.microsoft.com/office/drawing/2014/main" id="{E859863F-D32B-9DBE-FF68-AA4935AD1C2C}"/>
              </a:ext>
            </a:extLst>
          </p:cNvPr>
          <p:cNvPicPr>
            <a:picLocks noChangeAspect="1"/>
          </p:cNvPicPr>
          <p:nvPr/>
        </p:nvPicPr>
        <p:blipFill>
          <a:blip r:embed="rId4"/>
          <a:stretch>
            <a:fillRect/>
          </a:stretch>
        </p:blipFill>
        <p:spPr>
          <a:xfrm>
            <a:off x="580015" y="3259769"/>
            <a:ext cx="2001820" cy="720560"/>
          </a:xfrm>
          <a:prstGeom prst="rect">
            <a:avLst/>
          </a:prstGeom>
          <a:ln>
            <a:solidFill>
              <a:srgbClr val="0070C0"/>
            </a:solidFill>
          </a:ln>
        </p:spPr>
      </p:pic>
    </p:spTree>
    <p:extLst>
      <p:ext uri="{BB962C8B-B14F-4D97-AF65-F5344CB8AC3E}">
        <p14:creationId xmlns:p14="http://schemas.microsoft.com/office/powerpoint/2010/main" val="30162479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17C85-E021-C499-A5F7-7B520BCB9D4E}"/>
              </a:ext>
            </a:extLst>
          </p:cNvPr>
          <p:cNvSpPr>
            <a:spLocks noGrp="1"/>
          </p:cNvSpPr>
          <p:nvPr>
            <p:ph type="title"/>
          </p:nvPr>
        </p:nvSpPr>
        <p:spPr>
          <a:xfrm>
            <a:off x="838200" y="365125"/>
            <a:ext cx="10515600" cy="850489"/>
          </a:xfrm>
          <a:ln>
            <a:solidFill>
              <a:srgbClr val="FF0000"/>
            </a:solidFill>
          </a:ln>
        </p:spPr>
        <p:txBody>
          <a:bodyPr>
            <a:normAutofit/>
          </a:bodyPr>
          <a:lstStyle/>
          <a:p>
            <a:pPr algn="ctr"/>
            <a:r>
              <a:rPr lang="en-IN" sz="2800" dirty="0">
                <a:latin typeface="Bahnschrift" panose="020B0502040204020203" pitchFamily="34" charset="0"/>
              </a:rPr>
              <a:t>Columns having 50-60 percent and 60-70 percent null values</a:t>
            </a:r>
          </a:p>
        </p:txBody>
      </p:sp>
      <p:sp>
        <p:nvSpPr>
          <p:cNvPr id="3" name="Content Placeholder 2">
            <a:extLst>
              <a:ext uri="{FF2B5EF4-FFF2-40B4-BE49-F238E27FC236}">
                <a16:creationId xmlns:a16="http://schemas.microsoft.com/office/drawing/2014/main" id="{B26840DE-E9A7-1012-9FE0-F9FCEB2A6ADE}"/>
              </a:ext>
            </a:extLst>
          </p:cNvPr>
          <p:cNvSpPr>
            <a:spLocks noGrp="1"/>
          </p:cNvSpPr>
          <p:nvPr>
            <p:ph idx="1"/>
          </p:nvPr>
        </p:nvSpPr>
        <p:spPr>
          <a:xfrm>
            <a:off x="365761" y="1452282"/>
            <a:ext cx="11424620" cy="4724681"/>
          </a:xfrm>
          <a:ln>
            <a:solidFill>
              <a:srgbClr val="0070C0"/>
            </a:solidFill>
          </a:ln>
        </p:spPr>
        <p:txBody>
          <a:bodyPr>
            <a:normAutofit/>
          </a:bodyPr>
          <a:lstStyle/>
          <a:p>
            <a:pPr>
              <a:buFont typeface="Wingdings" panose="05000000000000000000" pitchFamily="2" charset="2"/>
              <a:buChar char="§"/>
            </a:pPr>
            <a:r>
              <a:rPr lang="en-IN" sz="1800" dirty="0">
                <a:latin typeface="Bahnschrift" panose="020B0502040204020203" pitchFamily="34" charset="0"/>
              </a:rPr>
              <a:t>The following columns have 50-60 percent null values: 'EXT_SOURCE_1','APARTMENTS_AVG','BASEMENTAREA_AVG','ELEVATORS_AVG','ENTRANCES_AVG','LANDAREA_AVG','LIVINGAREA_AVG','NONLIVINGAREA_AVG','APARTMENTS_MODE','BASEMENTAREA_MODE','ELEVATORS_MODE','ENTRANCES_MODE','LANDAREA_MODE','LIVINGAREA_MODE','NONLIVINGAREA_MODE','APARTMENTS_MEDI','BASEMENTAREA_MEDI','ELEVATORS_MEDI','ENTRANCES_MEDI','LANDAREA_MEDI','LIVINGAREA_MEDI','NONLIVINGAREA_MEDI','HOUSETYPE_MODE','WALLSMATERIAL_MODE’</a:t>
            </a:r>
          </a:p>
          <a:p>
            <a:pPr>
              <a:buFont typeface="Wingdings" panose="05000000000000000000" pitchFamily="2" charset="2"/>
              <a:buChar char="§"/>
            </a:pPr>
            <a:r>
              <a:rPr lang="en-IN" sz="1800" dirty="0">
                <a:latin typeface="Bahnschrift" panose="020B0502040204020203" pitchFamily="34" charset="0"/>
              </a:rPr>
              <a:t>All of these are numerical in type and have skewed distribution:</a:t>
            </a:r>
          </a:p>
          <a:p>
            <a:pPr>
              <a:buFont typeface="Wingdings" panose="05000000000000000000" pitchFamily="2" charset="2"/>
              <a:buChar char="§"/>
            </a:pPr>
            <a:r>
              <a:rPr lang="en-IN" sz="1800" dirty="0">
                <a:latin typeface="Bahnschrift" panose="020B0502040204020203" pitchFamily="34" charset="0"/>
              </a:rPr>
              <a:t>Same type of operation had been carried out here as well and the observation is : previously 30% customers have null values for these attributes but loan had been approved for them.</a:t>
            </a:r>
          </a:p>
          <a:p>
            <a:pPr>
              <a:buFont typeface="Wingdings" panose="05000000000000000000" pitchFamily="2" charset="2"/>
              <a:buChar char="§"/>
            </a:pPr>
            <a:r>
              <a:rPr lang="en-IN" sz="1800" dirty="0">
                <a:latin typeface="Bahnschrift" panose="020B0502040204020203" pitchFamily="34" charset="0"/>
              </a:rPr>
              <a:t>The attributes which had 60-70 percent null values had been straightaway dropped from the dataset.</a:t>
            </a:r>
          </a:p>
          <a:p>
            <a:pPr>
              <a:buFont typeface="Wingdings" panose="05000000000000000000" pitchFamily="2" charset="2"/>
              <a:buChar char="§"/>
            </a:pPr>
            <a:r>
              <a:rPr lang="en-IN" sz="1800" dirty="0">
                <a:latin typeface="Bahnschrift" panose="020B0502040204020203" pitchFamily="34" charset="0"/>
              </a:rPr>
              <a:t>After that total column number came down to 73 (numerical column number 56 and categorical is 17)</a:t>
            </a:r>
          </a:p>
          <a:p>
            <a:pPr marL="0" indent="0">
              <a:buNone/>
            </a:pPr>
            <a:endParaRPr lang="en-IN" sz="1800" dirty="0">
              <a:latin typeface="Bahnschrift" panose="020B0502040204020203" pitchFamily="34" charset="0"/>
            </a:endParaRPr>
          </a:p>
        </p:txBody>
      </p:sp>
    </p:spTree>
    <p:extLst>
      <p:ext uri="{BB962C8B-B14F-4D97-AF65-F5344CB8AC3E}">
        <p14:creationId xmlns:p14="http://schemas.microsoft.com/office/powerpoint/2010/main" val="1704587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D50D6-2B83-D96E-21C7-D8730D7EFA20}"/>
              </a:ext>
            </a:extLst>
          </p:cNvPr>
          <p:cNvSpPr>
            <a:spLocks noGrp="1"/>
          </p:cNvSpPr>
          <p:nvPr>
            <p:ph type="title"/>
          </p:nvPr>
        </p:nvSpPr>
        <p:spPr>
          <a:ln>
            <a:solidFill>
              <a:srgbClr val="FF0000"/>
            </a:solidFill>
          </a:ln>
        </p:spPr>
        <p:txBody>
          <a:bodyPr>
            <a:normAutofit/>
          </a:bodyPr>
          <a:lstStyle/>
          <a:p>
            <a:pPr algn="ctr"/>
            <a:r>
              <a:rPr lang="en-IN" sz="2800" dirty="0">
                <a:latin typeface="Bahnschrift" panose="020B0502040204020203" pitchFamily="34" charset="0"/>
              </a:rPr>
              <a:t>Observation of univariate, bi-variate and multivariate non-null categorical features</a:t>
            </a:r>
          </a:p>
        </p:txBody>
      </p:sp>
      <p:sp>
        <p:nvSpPr>
          <p:cNvPr id="3" name="Content Placeholder 2">
            <a:extLst>
              <a:ext uri="{FF2B5EF4-FFF2-40B4-BE49-F238E27FC236}">
                <a16:creationId xmlns:a16="http://schemas.microsoft.com/office/drawing/2014/main" id="{17701E5C-E33E-414D-46E0-690FB580255E}"/>
              </a:ext>
            </a:extLst>
          </p:cNvPr>
          <p:cNvSpPr>
            <a:spLocks noGrp="1"/>
          </p:cNvSpPr>
          <p:nvPr>
            <p:ph idx="1"/>
          </p:nvPr>
        </p:nvSpPr>
        <p:spPr>
          <a:xfrm>
            <a:off x="838200" y="1825625"/>
            <a:ext cx="10515600" cy="4897904"/>
          </a:xfrm>
          <a:ln>
            <a:solidFill>
              <a:srgbClr val="0070C0"/>
            </a:solidFill>
          </a:ln>
        </p:spPr>
        <p:txBody>
          <a:bodyPr>
            <a:noAutofit/>
          </a:bodyPr>
          <a:lstStyle/>
          <a:p>
            <a:pPr>
              <a:buFont typeface="Wingdings" panose="05000000000000000000" pitchFamily="2" charset="2"/>
              <a:buChar char="v"/>
            </a:pPr>
            <a:r>
              <a:rPr lang="en-IN" sz="1600" u="sng" dirty="0">
                <a:solidFill>
                  <a:srgbClr val="000000"/>
                </a:solidFill>
                <a:latin typeface="Bahnschrift" panose="020B0502040204020203" pitchFamily="34" charset="0"/>
              </a:rPr>
              <a:t>‘NAME_CONTRACT_TYPE’ </a:t>
            </a:r>
            <a:r>
              <a:rPr lang="en-IN" sz="1600" dirty="0">
                <a:solidFill>
                  <a:srgbClr val="000000"/>
                </a:solidFill>
                <a:latin typeface="Bahnschrift" panose="020B0502040204020203" pitchFamily="34" charset="0"/>
              </a:rPr>
              <a:t>- </a:t>
            </a:r>
            <a:r>
              <a:rPr lang="en-US" sz="1600" b="0" i="0" dirty="0">
                <a:solidFill>
                  <a:srgbClr val="000000"/>
                </a:solidFill>
                <a:effectLst/>
                <a:latin typeface="Bahnschrift" panose="020B0502040204020203" pitchFamily="34" charset="0"/>
              </a:rPr>
              <a:t>Customer having difficulty in loan repayment predominantly exists in those participants who are taking Cash Loans </a:t>
            </a:r>
            <a:r>
              <a:rPr lang="en-US" sz="1600" dirty="0">
                <a:solidFill>
                  <a:srgbClr val="000000"/>
                </a:solidFill>
                <a:latin typeface="Bahnschrift" panose="020B0502040204020203" pitchFamily="34" charset="0"/>
              </a:rPr>
              <a:t>But as it's an imbalanced dataset, the visualization is biased</a:t>
            </a:r>
            <a:r>
              <a:rPr lang="en-US" sz="1600" b="0" i="0" dirty="0">
                <a:solidFill>
                  <a:srgbClr val="000000"/>
                </a:solidFill>
                <a:effectLst/>
                <a:latin typeface="Bahnschrift" panose="020B0502040204020203" pitchFamily="34" charset="0"/>
              </a:rPr>
              <a:t>.</a:t>
            </a:r>
          </a:p>
          <a:p>
            <a:pPr>
              <a:buFont typeface="Wingdings" panose="05000000000000000000" pitchFamily="2" charset="2"/>
              <a:buChar char="v"/>
            </a:pPr>
            <a:r>
              <a:rPr lang="en-US" sz="1600" b="0" i="0" dirty="0">
                <a:solidFill>
                  <a:srgbClr val="000000"/>
                </a:solidFill>
                <a:effectLst/>
                <a:latin typeface="Bahnschrift" panose="020B0502040204020203" pitchFamily="34" charset="0"/>
              </a:rPr>
              <a:t>‘</a:t>
            </a:r>
            <a:r>
              <a:rPr lang="en-US" sz="1600" b="0" i="0" u="sng" dirty="0">
                <a:solidFill>
                  <a:srgbClr val="000000"/>
                </a:solidFill>
                <a:effectLst/>
                <a:latin typeface="Bahnschrift" panose="020B0502040204020203" pitchFamily="34" charset="0"/>
              </a:rPr>
              <a:t>FLAG_OWN_CAR’ </a:t>
            </a:r>
            <a:r>
              <a:rPr lang="en-US" sz="1600" b="0" i="0" dirty="0">
                <a:solidFill>
                  <a:srgbClr val="000000"/>
                </a:solidFill>
                <a:effectLst/>
                <a:latin typeface="Bahnschrift" panose="020B0502040204020203" pitchFamily="34" charset="0"/>
              </a:rPr>
              <a:t>- </a:t>
            </a:r>
            <a:r>
              <a:rPr lang="en-US" sz="1600" dirty="0">
                <a:solidFill>
                  <a:srgbClr val="000000"/>
                </a:solidFill>
                <a:latin typeface="Bahnschrift" panose="020B0502040204020203" pitchFamily="34" charset="0"/>
              </a:rPr>
              <a:t>The attribute has defaulter in those customers who don't have car.</a:t>
            </a:r>
          </a:p>
          <a:p>
            <a:pPr>
              <a:buFont typeface="Wingdings" panose="05000000000000000000" pitchFamily="2" charset="2"/>
              <a:buChar char="v"/>
            </a:pPr>
            <a:r>
              <a:rPr lang="en-US" sz="1600" u="sng" dirty="0">
                <a:solidFill>
                  <a:srgbClr val="000000"/>
                </a:solidFill>
                <a:latin typeface="Bahnschrift" panose="020B0502040204020203" pitchFamily="34" charset="0"/>
              </a:rPr>
              <a:t>‘CODE_GENDER’</a:t>
            </a:r>
            <a:r>
              <a:rPr lang="en-US" sz="1600" dirty="0">
                <a:solidFill>
                  <a:srgbClr val="000000"/>
                </a:solidFill>
                <a:latin typeface="Bahnschrift" panose="020B0502040204020203" pitchFamily="34" charset="0"/>
              </a:rPr>
              <a:t> – Though the male customers have higher number of defaulters but we can’t say that, this is an evident matter. So this particular attribute ca be dropped.</a:t>
            </a:r>
          </a:p>
          <a:p>
            <a:pPr>
              <a:buFont typeface="Wingdings" panose="05000000000000000000" pitchFamily="2" charset="2"/>
              <a:buChar char="v"/>
            </a:pPr>
            <a:r>
              <a:rPr lang="en-US" sz="1600" u="sng" dirty="0">
                <a:solidFill>
                  <a:srgbClr val="000000"/>
                </a:solidFill>
                <a:latin typeface="Bahnschrift" panose="020B0502040204020203" pitchFamily="34" charset="0"/>
              </a:rPr>
              <a:t>‘FLAG_OWN_REALTY’</a:t>
            </a:r>
            <a:r>
              <a:rPr lang="en-US" sz="1600" dirty="0">
                <a:solidFill>
                  <a:srgbClr val="000000"/>
                </a:solidFill>
                <a:latin typeface="Bahnschrift" panose="020B0502040204020203" pitchFamily="34" charset="0"/>
              </a:rPr>
              <a:t> – The number of persons having Realty has higher number of loan defaulters.</a:t>
            </a:r>
          </a:p>
          <a:p>
            <a:pPr>
              <a:buFont typeface="Wingdings" panose="05000000000000000000" pitchFamily="2" charset="2"/>
              <a:buChar char="v"/>
            </a:pPr>
            <a:r>
              <a:rPr lang="en-US" sz="1600" u="sng" dirty="0">
                <a:solidFill>
                  <a:srgbClr val="000000"/>
                </a:solidFill>
                <a:latin typeface="Bahnschrift" panose="020B0502040204020203" pitchFamily="34" charset="0"/>
              </a:rPr>
              <a:t>‘NAME_TYPE_SUITE’</a:t>
            </a:r>
            <a:r>
              <a:rPr lang="en-US" sz="1600" dirty="0">
                <a:solidFill>
                  <a:srgbClr val="000000"/>
                </a:solidFill>
                <a:latin typeface="Bahnschrift" panose="020B0502040204020203" pitchFamily="34" charset="0"/>
              </a:rPr>
              <a:t> – Higher number of defaulters for unaccompanied persons.</a:t>
            </a:r>
          </a:p>
          <a:p>
            <a:pPr>
              <a:buFont typeface="Wingdings" panose="05000000000000000000" pitchFamily="2" charset="2"/>
              <a:buChar char="v"/>
            </a:pPr>
            <a:r>
              <a:rPr lang="en-US" sz="1600" u="sng" dirty="0">
                <a:solidFill>
                  <a:srgbClr val="000000"/>
                </a:solidFill>
                <a:latin typeface="Bahnschrift" panose="020B0502040204020203" pitchFamily="34" charset="0"/>
              </a:rPr>
              <a:t>‘NAME_INCOME_TYPE’</a:t>
            </a:r>
            <a:r>
              <a:rPr lang="en-US" sz="1600" dirty="0">
                <a:solidFill>
                  <a:srgbClr val="000000"/>
                </a:solidFill>
                <a:latin typeface="Bahnschrift" panose="020B0502040204020203" pitchFamily="34" charset="0"/>
              </a:rPr>
              <a:t> – The working group has highest number of difficulties in loan repayment. Though Business group has highest median salary, but they don’t have any defaulters.</a:t>
            </a:r>
          </a:p>
          <a:p>
            <a:pPr algn="l">
              <a:buFont typeface="Wingdings" panose="05000000000000000000" pitchFamily="2" charset="2"/>
              <a:buChar char="v"/>
            </a:pPr>
            <a:r>
              <a:rPr lang="en-US" sz="1600" u="sng" dirty="0">
                <a:solidFill>
                  <a:srgbClr val="000000"/>
                </a:solidFill>
                <a:latin typeface="Bahnschrift" panose="020B0502040204020203" pitchFamily="34" charset="0"/>
              </a:rPr>
              <a:t>‘NAME_EDUCATION_TYPE’</a:t>
            </a:r>
            <a:r>
              <a:rPr lang="en-US" sz="1600" dirty="0">
                <a:solidFill>
                  <a:srgbClr val="000000"/>
                </a:solidFill>
                <a:latin typeface="Bahnschrift" panose="020B0502040204020203" pitchFamily="34" charset="0"/>
              </a:rPr>
              <a:t> - </a:t>
            </a:r>
            <a:r>
              <a:rPr lang="en-US" sz="1600" b="0" i="0" dirty="0">
                <a:solidFill>
                  <a:srgbClr val="000000"/>
                </a:solidFill>
                <a:effectLst/>
                <a:latin typeface="Bahnschrift" panose="020B0502040204020203" pitchFamily="34" charset="0"/>
              </a:rPr>
              <a:t>For Secondary/ Secondary Special education and Higher Education the number of defaulter is more than any other type of education holder. </a:t>
            </a:r>
          </a:p>
          <a:p>
            <a:pPr algn="l">
              <a:buFont typeface="Wingdings" panose="05000000000000000000" pitchFamily="2" charset="2"/>
              <a:buChar char="v"/>
            </a:pPr>
            <a:r>
              <a:rPr lang="en-US" sz="1600" b="0" i="0" dirty="0">
                <a:solidFill>
                  <a:srgbClr val="000000"/>
                </a:solidFill>
                <a:effectLst/>
                <a:latin typeface="Bahnschrift" panose="020B0502040204020203" pitchFamily="34" charset="0"/>
              </a:rPr>
              <a:t>According to data </a:t>
            </a:r>
            <a:r>
              <a:rPr lang="en-US" sz="1600" b="0" i="0" u="sng" dirty="0">
                <a:solidFill>
                  <a:srgbClr val="000000"/>
                </a:solidFill>
                <a:effectLst/>
                <a:latin typeface="Bahnschrift" panose="020B0502040204020203" pitchFamily="34" charset="0"/>
              </a:rPr>
              <a:t>, ‘Academic Degree</a:t>
            </a:r>
            <a:r>
              <a:rPr lang="en-US" sz="1600" b="0" i="0" dirty="0">
                <a:solidFill>
                  <a:srgbClr val="000000"/>
                </a:solidFill>
                <a:effectLst/>
                <a:latin typeface="Bahnschrift" panose="020B0502040204020203" pitchFamily="34" charset="0"/>
              </a:rPr>
              <a:t>’ has the </a:t>
            </a:r>
            <a:r>
              <a:rPr lang="en-US" sz="1600" b="0" i="0" u="sng" dirty="0">
                <a:solidFill>
                  <a:srgbClr val="000000"/>
                </a:solidFill>
                <a:effectLst/>
                <a:latin typeface="Bahnschrift" panose="020B0502040204020203" pitchFamily="34" charset="0"/>
              </a:rPr>
              <a:t>highest median salary</a:t>
            </a:r>
            <a:r>
              <a:rPr lang="en-US" sz="1600" b="0" i="0" dirty="0">
                <a:solidFill>
                  <a:srgbClr val="000000"/>
                </a:solidFill>
                <a:effectLst/>
                <a:latin typeface="Bahnschrift" panose="020B0502040204020203" pitchFamily="34" charset="0"/>
              </a:rPr>
              <a:t> , but the overall loan applicant of that education group </a:t>
            </a:r>
            <a:r>
              <a:rPr lang="en-US" sz="1600" b="0" i="0" u="sng" dirty="0">
                <a:solidFill>
                  <a:srgbClr val="000000"/>
                </a:solidFill>
                <a:effectLst/>
                <a:latin typeface="Bahnschrift" panose="020B0502040204020203" pitchFamily="34" charset="0"/>
              </a:rPr>
              <a:t>is less (only 163</a:t>
            </a:r>
            <a:r>
              <a:rPr lang="en-US" sz="1600" b="0" i="0" dirty="0">
                <a:solidFill>
                  <a:srgbClr val="000000"/>
                </a:solidFill>
                <a:effectLst/>
                <a:latin typeface="Bahnschrift" panose="020B0502040204020203" pitchFamily="34" charset="0"/>
              </a:rPr>
              <a:t>) , whereas </a:t>
            </a:r>
            <a:r>
              <a:rPr lang="en-US" sz="1600" b="0" i="0" u="sng" dirty="0">
                <a:solidFill>
                  <a:srgbClr val="000000"/>
                </a:solidFill>
                <a:effectLst/>
                <a:latin typeface="Bahnschrift" panose="020B0502040204020203" pitchFamily="34" charset="0"/>
              </a:rPr>
              <a:t>Higher Education applicants </a:t>
            </a:r>
            <a:r>
              <a:rPr lang="en-US" sz="1600" b="0" i="0" dirty="0">
                <a:solidFill>
                  <a:srgbClr val="000000"/>
                </a:solidFill>
                <a:effectLst/>
                <a:latin typeface="Bahnschrift" panose="020B0502040204020203" pitchFamily="34" charset="0"/>
              </a:rPr>
              <a:t>have </a:t>
            </a:r>
            <a:r>
              <a:rPr lang="en-US" sz="1600" b="0" i="0" u="sng" dirty="0">
                <a:solidFill>
                  <a:srgbClr val="000000"/>
                </a:solidFill>
                <a:effectLst/>
                <a:latin typeface="Bahnschrift" panose="020B0502040204020203" pitchFamily="34" charset="0"/>
              </a:rPr>
              <a:t>second highest median salary </a:t>
            </a:r>
            <a:r>
              <a:rPr lang="en-US" sz="1600" b="0" i="0" dirty="0">
                <a:solidFill>
                  <a:srgbClr val="000000"/>
                </a:solidFill>
                <a:effectLst/>
                <a:latin typeface="Bahnschrift" panose="020B0502040204020203" pitchFamily="34" charset="0"/>
              </a:rPr>
              <a:t>and </a:t>
            </a:r>
            <a:r>
              <a:rPr lang="en-US" sz="1600" b="0" i="0" u="sng" dirty="0">
                <a:solidFill>
                  <a:srgbClr val="000000"/>
                </a:solidFill>
                <a:effectLst/>
                <a:latin typeface="Bahnschrift" panose="020B0502040204020203" pitchFamily="34" charset="0"/>
              </a:rPr>
              <a:t>Secondary/Secondary Special Education holders</a:t>
            </a:r>
            <a:r>
              <a:rPr lang="en-US" sz="1600" b="0" i="0" dirty="0">
                <a:solidFill>
                  <a:srgbClr val="000000"/>
                </a:solidFill>
                <a:effectLst/>
                <a:latin typeface="Bahnschrift" panose="020B0502040204020203" pitchFamily="34" charset="0"/>
              </a:rPr>
              <a:t> have </a:t>
            </a:r>
            <a:r>
              <a:rPr lang="en-US" sz="1600" b="0" i="0" u="sng" dirty="0">
                <a:solidFill>
                  <a:srgbClr val="000000"/>
                </a:solidFill>
                <a:effectLst/>
                <a:latin typeface="Bahnschrift" panose="020B0502040204020203" pitchFamily="34" charset="0"/>
              </a:rPr>
              <a:t>lowest median salary</a:t>
            </a:r>
            <a:r>
              <a:rPr lang="en-US" sz="1600" b="0" i="0" dirty="0">
                <a:solidFill>
                  <a:srgbClr val="000000"/>
                </a:solidFill>
                <a:effectLst/>
                <a:latin typeface="Bahnschrift" panose="020B0502040204020203" pitchFamily="34" charset="0"/>
              </a:rPr>
              <a:t>. So the loan approver might need to think before giving approval for loan to Higher Education holder and Secondary education holder.</a:t>
            </a:r>
          </a:p>
          <a:p>
            <a:pPr marL="0" indent="0" algn="l">
              <a:buNone/>
            </a:pPr>
            <a:r>
              <a:rPr lang="en-US" sz="1600" dirty="0">
                <a:solidFill>
                  <a:srgbClr val="000000"/>
                </a:solidFill>
                <a:latin typeface="Bahnschrift" panose="020B0502040204020203" pitchFamily="34" charset="0"/>
              </a:rPr>
              <a:t>(Python Notebook has all the visual evidence of these observations)</a:t>
            </a:r>
            <a:endParaRPr lang="en-US" sz="1600" b="0" i="0" dirty="0">
              <a:solidFill>
                <a:srgbClr val="000000"/>
              </a:solidFill>
              <a:effectLst/>
              <a:latin typeface="Bahnschrift" panose="020B0502040204020203" pitchFamily="34" charset="0"/>
            </a:endParaRPr>
          </a:p>
        </p:txBody>
      </p:sp>
    </p:spTree>
    <p:extLst>
      <p:ext uri="{BB962C8B-B14F-4D97-AF65-F5344CB8AC3E}">
        <p14:creationId xmlns:p14="http://schemas.microsoft.com/office/powerpoint/2010/main" val="8346860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7F5D3-DBBA-B40B-5A15-DA5DBA12CE86}"/>
              </a:ext>
            </a:extLst>
          </p:cNvPr>
          <p:cNvSpPr>
            <a:spLocks noGrp="1"/>
          </p:cNvSpPr>
          <p:nvPr>
            <p:ph type="title"/>
          </p:nvPr>
        </p:nvSpPr>
        <p:spPr>
          <a:xfrm>
            <a:off x="838200" y="365125"/>
            <a:ext cx="10515600" cy="979581"/>
          </a:xfrm>
          <a:ln>
            <a:solidFill>
              <a:srgbClr val="FF0000"/>
            </a:solidFill>
          </a:ln>
        </p:spPr>
        <p:txBody>
          <a:bodyPr>
            <a:normAutofit/>
          </a:bodyPr>
          <a:lstStyle/>
          <a:p>
            <a:pPr algn="ctr"/>
            <a:r>
              <a:rPr lang="en-IN" sz="2800" dirty="0">
                <a:latin typeface="Bahnschrift" panose="020B0502040204020203" pitchFamily="34" charset="0"/>
              </a:rPr>
              <a:t>Observation of univariate, bi-variate and multivariate non-null categorical features</a:t>
            </a:r>
          </a:p>
        </p:txBody>
      </p:sp>
      <p:sp>
        <p:nvSpPr>
          <p:cNvPr id="3" name="Content Placeholder 2">
            <a:extLst>
              <a:ext uri="{FF2B5EF4-FFF2-40B4-BE49-F238E27FC236}">
                <a16:creationId xmlns:a16="http://schemas.microsoft.com/office/drawing/2014/main" id="{A22B89F7-DB99-AB11-3A65-36D69C769159}"/>
              </a:ext>
            </a:extLst>
          </p:cNvPr>
          <p:cNvSpPr>
            <a:spLocks noGrp="1"/>
          </p:cNvSpPr>
          <p:nvPr>
            <p:ph idx="1"/>
          </p:nvPr>
        </p:nvSpPr>
        <p:spPr>
          <a:xfrm>
            <a:off x="301215" y="1538344"/>
            <a:ext cx="11542954" cy="5088367"/>
          </a:xfrm>
          <a:ln>
            <a:solidFill>
              <a:srgbClr val="0070C0"/>
            </a:solidFill>
          </a:ln>
        </p:spPr>
        <p:txBody>
          <a:bodyPr>
            <a:normAutofit/>
          </a:bodyPr>
          <a:lstStyle/>
          <a:p>
            <a:pPr algn="l">
              <a:buFont typeface="Wingdings" panose="05000000000000000000" pitchFamily="2" charset="2"/>
              <a:buChar char="v"/>
            </a:pPr>
            <a:r>
              <a:rPr lang="en-US" sz="1800" b="0" i="0" dirty="0">
                <a:solidFill>
                  <a:srgbClr val="000000"/>
                </a:solidFill>
                <a:effectLst/>
                <a:latin typeface="Bahnschrift" panose="020B0502040204020203" pitchFamily="34" charset="0"/>
              </a:rPr>
              <a:t>The Married persons are highest in the count for taking loan and they have highest number of defaulters present.</a:t>
            </a:r>
          </a:p>
          <a:p>
            <a:pPr algn="l">
              <a:buFont typeface="Wingdings" panose="05000000000000000000" pitchFamily="2" charset="2"/>
              <a:buChar char="v"/>
            </a:pPr>
            <a:r>
              <a:rPr lang="en-US" sz="1800" b="0" i="0" dirty="0">
                <a:solidFill>
                  <a:srgbClr val="000000"/>
                </a:solidFill>
                <a:effectLst/>
                <a:latin typeface="Bahnschrift" panose="020B0502040204020203" pitchFamily="34" charset="0"/>
              </a:rPr>
              <a:t>Separated persons have highest median income and their defaulter count is not much w.r.t to the other categories.</a:t>
            </a:r>
          </a:p>
          <a:p>
            <a:pPr algn="l">
              <a:buFont typeface="Wingdings" panose="05000000000000000000" pitchFamily="2" charset="2"/>
              <a:buChar char="v"/>
            </a:pPr>
            <a:r>
              <a:rPr lang="en-US" sz="1800" b="0" i="0" dirty="0">
                <a:solidFill>
                  <a:srgbClr val="000000"/>
                </a:solidFill>
                <a:effectLst/>
                <a:latin typeface="Bahnschrift" panose="020B0502040204020203" pitchFamily="34" charset="0"/>
              </a:rPr>
              <a:t>The attribute , by intuition, doesn't seem to be much helpful or useful for deciding any factor for defaulters.</a:t>
            </a:r>
          </a:p>
          <a:p>
            <a:pPr algn="l">
              <a:buFont typeface="Wingdings" panose="05000000000000000000" pitchFamily="2" charset="2"/>
              <a:buChar char="v"/>
            </a:pPr>
            <a:r>
              <a:rPr lang="en-US" sz="1800" b="0" i="0" dirty="0">
                <a:solidFill>
                  <a:srgbClr val="000000"/>
                </a:solidFill>
                <a:effectLst/>
                <a:latin typeface="Bahnschrift" panose="020B0502040204020203" pitchFamily="34" charset="0"/>
              </a:rPr>
              <a:t>Good to go with the analysis excluding this attribute(Assumption, marital status doesn't impact much )</a:t>
            </a:r>
          </a:p>
          <a:p>
            <a:pPr algn="l">
              <a:buFont typeface="Wingdings" panose="05000000000000000000" pitchFamily="2" charset="2"/>
              <a:buChar char="v"/>
            </a:pPr>
            <a:r>
              <a:rPr lang="en-US" sz="1800" b="0" i="0" dirty="0">
                <a:solidFill>
                  <a:srgbClr val="000000"/>
                </a:solidFill>
                <a:effectLst/>
                <a:latin typeface="Bahnschrift" panose="020B0502040204020203" pitchFamily="34" charset="0"/>
              </a:rPr>
              <a:t>The participants whoever have applied for loan , maximum are coming under House/</a:t>
            </a:r>
            <a:r>
              <a:rPr lang="en-US" sz="1800" b="0" i="0" dirty="0" err="1">
                <a:solidFill>
                  <a:srgbClr val="000000"/>
                </a:solidFill>
                <a:effectLst/>
                <a:latin typeface="Bahnschrift" panose="020B0502040204020203" pitchFamily="34" charset="0"/>
              </a:rPr>
              <a:t>Appartment</a:t>
            </a:r>
            <a:r>
              <a:rPr lang="en-US" sz="1800" b="0" i="0" dirty="0">
                <a:solidFill>
                  <a:srgbClr val="000000"/>
                </a:solidFill>
                <a:effectLst/>
                <a:latin typeface="Bahnschrift" panose="020B0502040204020203" pitchFamily="34" charset="0"/>
              </a:rPr>
              <a:t> owner. By Assumption, it may be a house loan.</a:t>
            </a:r>
          </a:p>
          <a:p>
            <a:pPr algn="l">
              <a:buFont typeface="Wingdings" panose="05000000000000000000" pitchFamily="2" charset="2"/>
              <a:buChar char="v"/>
            </a:pPr>
            <a:r>
              <a:rPr lang="en-US" sz="1800" b="0" i="0" dirty="0">
                <a:solidFill>
                  <a:srgbClr val="000000"/>
                </a:solidFill>
                <a:effectLst/>
                <a:latin typeface="Bahnschrift" panose="020B0502040204020203" pitchFamily="34" charset="0"/>
              </a:rPr>
              <a:t>Even if House/</a:t>
            </a:r>
            <a:r>
              <a:rPr lang="en-US" sz="1800" b="0" i="0" dirty="0" err="1">
                <a:solidFill>
                  <a:srgbClr val="000000"/>
                </a:solidFill>
                <a:effectLst/>
                <a:latin typeface="Bahnschrift" panose="020B0502040204020203" pitchFamily="34" charset="0"/>
              </a:rPr>
              <a:t>Appartment</a:t>
            </a:r>
            <a:r>
              <a:rPr lang="en-US" sz="1800" b="0" i="0" dirty="0">
                <a:solidFill>
                  <a:srgbClr val="000000"/>
                </a:solidFill>
                <a:effectLst/>
                <a:latin typeface="Bahnschrift" panose="020B0502040204020203" pitchFamily="34" charset="0"/>
              </a:rPr>
              <a:t> owners stand at the second point of median salary, they are highest in terms of being defaulter. Also in terms of loan payment, they have a good count.</a:t>
            </a:r>
          </a:p>
          <a:p>
            <a:pPr algn="l">
              <a:buFont typeface="Wingdings" panose="05000000000000000000" pitchFamily="2" charset="2"/>
              <a:buChar char="v"/>
            </a:pPr>
            <a:r>
              <a:rPr lang="en-US" sz="1800" b="0" i="0" dirty="0">
                <a:solidFill>
                  <a:srgbClr val="000000"/>
                </a:solidFill>
                <a:effectLst/>
                <a:latin typeface="Bahnschrift" panose="020B0502040204020203" pitchFamily="34" charset="0"/>
              </a:rPr>
              <a:t>Co-operative </a:t>
            </a:r>
            <a:r>
              <a:rPr lang="en-US" sz="1800" b="0" i="0" dirty="0" err="1">
                <a:solidFill>
                  <a:srgbClr val="000000"/>
                </a:solidFill>
                <a:effectLst/>
                <a:latin typeface="Bahnschrift" panose="020B0502040204020203" pitchFamily="34" charset="0"/>
              </a:rPr>
              <a:t>appartment</a:t>
            </a:r>
            <a:r>
              <a:rPr lang="en-US" sz="1800" b="0" i="0" dirty="0">
                <a:solidFill>
                  <a:srgbClr val="000000"/>
                </a:solidFill>
                <a:effectLst/>
                <a:latin typeface="Bahnschrift" panose="020B0502040204020203" pitchFamily="34" charset="0"/>
              </a:rPr>
              <a:t> owners have highest median salary and they are lowest in terms of taking loan. as a result they are lowest in terms of being defaulters.</a:t>
            </a:r>
          </a:p>
          <a:p>
            <a:pPr algn="l">
              <a:buFont typeface="Wingdings" panose="05000000000000000000" pitchFamily="2" charset="2"/>
              <a:buChar char="v"/>
            </a:pPr>
            <a:r>
              <a:rPr lang="en-US" sz="1800" b="0" i="0" dirty="0">
                <a:solidFill>
                  <a:srgbClr val="000000"/>
                </a:solidFill>
                <a:effectLst/>
                <a:latin typeface="Bahnschrift" panose="020B0502040204020203" pitchFamily="34" charset="0"/>
              </a:rPr>
              <a:t>The persons who are living with partners have lowest median salary and they have second highest count in terms of being defaulters.</a:t>
            </a:r>
          </a:p>
          <a:p>
            <a:pPr algn="l">
              <a:buFont typeface="Wingdings" panose="05000000000000000000" pitchFamily="2" charset="2"/>
              <a:buChar char="v"/>
            </a:pPr>
            <a:r>
              <a:rPr lang="en-US" sz="1800" b="0" i="0" dirty="0">
                <a:solidFill>
                  <a:srgbClr val="000000"/>
                </a:solidFill>
                <a:effectLst/>
                <a:latin typeface="Bahnschrift" panose="020B0502040204020203" pitchFamily="34" charset="0"/>
              </a:rPr>
              <a:t>By intuition, this attribute seems to be very important for deciding Loan approval/ defaulter selection.</a:t>
            </a:r>
          </a:p>
          <a:p>
            <a:pPr algn="l">
              <a:buFont typeface="Wingdings" panose="05000000000000000000" pitchFamily="2" charset="2"/>
              <a:buChar char="v"/>
            </a:pPr>
            <a:endParaRPr lang="en-US" sz="1800" b="0" i="0" dirty="0">
              <a:solidFill>
                <a:srgbClr val="000000"/>
              </a:solidFill>
              <a:effectLst/>
              <a:latin typeface="Bahnschrift" panose="020B0502040204020203" pitchFamily="34" charset="0"/>
            </a:endParaRPr>
          </a:p>
          <a:p>
            <a:pPr>
              <a:buFont typeface="Wingdings" panose="05000000000000000000" pitchFamily="2" charset="2"/>
              <a:buChar char="v"/>
            </a:pPr>
            <a:endParaRPr lang="en-IN" sz="1800" dirty="0">
              <a:latin typeface="Bahnschrift" panose="020B0502040204020203" pitchFamily="34" charset="0"/>
            </a:endParaRPr>
          </a:p>
        </p:txBody>
      </p:sp>
    </p:spTree>
    <p:extLst>
      <p:ext uri="{BB962C8B-B14F-4D97-AF65-F5344CB8AC3E}">
        <p14:creationId xmlns:p14="http://schemas.microsoft.com/office/powerpoint/2010/main" val="34590489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9EEF5-82DB-55B7-BA0D-200DD214AD70}"/>
              </a:ext>
            </a:extLst>
          </p:cNvPr>
          <p:cNvSpPr>
            <a:spLocks noGrp="1"/>
          </p:cNvSpPr>
          <p:nvPr>
            <p:ph type="title"/>
          </p:nvPr>
        </p:nvSpPr>
        <p:spPr>
          <a:xfrm>
            <a:off x="838200" y="365125"/>
            <a:ext cx="10515600" cy="807459"/>
          </a:xfrm>
          <a:ln>
            <a:solidFill>
              <a:srgbClr val="FF0000"/>
            </a:solidFill>
          </a:ln>
        </p:spPr>
        <p:txBody>
          <a:bodyPr>
            <a:noAutofit/>
          </a:bodyPr>
          <a:lstStyle/>
          <a:p>
            <a:pPr algn="ctr"/>
            <a:r>
              <a:rPr lang="en-IN" sz="2800" dirty="0">
                <a:latin typeface="Bahnschrift" panose="020B0502040204020203" pitchFamily="34" charset="0"/>
              </a:rPr>
              <a:t>Observation of univariate, bi-variate and multivariate non-null categorical features</a:t>
            </a:r>
            <a:endParaRPr lang="en-IN" sz="2800" dirty="0"/>
          </a:p>
        </p:txBody>
      </p:sp>
      <p:pic>
        <p:nvPicPr>
          <p:cNvPr id="5" name="Content Placeholder 4">
            <a:extLst>
              <a:ext uri="{FF2B5EF4-FFF2-40B4-BE49-F238E27FC236}">
                <a16:creationId xmlns:a16="http://schemas.microsoft.com/office/drawing/2014/main" id="{6636ABF0-9DCF-63F4-8665-609C2625EF2C}"/>
              </a:ext>
            </a:extLst>
          </p:cNvPr>
          <p:cNvPicPr>
            <a:picLocks noGrp="1" noChangeAspect="1"/>
          </p:cNvPicPr>
          <p:nvPr>
            <p:ph idx="1"/>
          </p:nvPr>
        </p:nvPicPr>
        <p:blipFill>
          <a:blip r:embed="rId2"/>
          <a:stretch>
            <a:fillRect/>
          </a:stretch>
        </p:blipFill>
        <p:spPr>
          <a:xfrm>
            <a:off x="416654" y="1346100"/>
            <a:ext cx="3071126" cy="1950889"/>
          </a:xfrm>
          <a:ln>
            <a:solidFill>
              <a:srgbClr val="0070C0"/>
            </a:solidFill>
          </a:ln>
        </p:spPr>
      </p:pic>
      <p:pic>
        <p:nvPicPr>
          <p:cNvPr id="7" name="Picture 6">
            <a:extLst>
              <a:ext uri="{FF2B5EF4-FFF2-40B4-BE49-F238E27FC236}">
                <a16:creationId xmlns:a16="http://schemas.microsoft.com/office/drawing/2014/main" id="{F4ABBE19-9CD7-9407-A9E3-AB66539F840A}"/>
              </a:ext>
            </a:extLst>
          </p:cNvPr>
          <p:cNvPicPr>
            <a:picLocks noChangeAspect="1"/>
          </p:cNvPicPr>
          <p:nvPr/>
        </p:nvPicPr>
        <p:blipFill>
          <a:blip r:embed="rId3"/>
          <a:stretch>
            <a:fillRect/>
          </a:stretch>
        </p:blipFill>
        <p:spPr>
          <a:xfrm>
            <a:off x="3487780" y="1337985"/>
            <a:ext cx="3298246" cy="1950889"/>
          </a:xfrm>
          <a:prstGeom prst="rect">
            <a:avLst/>
          </a:prstGeom>
          <a:ln>
            <a:solidFill>
              <a:srgbClr val="0070C0"/>
            </a:solidFill>
          </a:ln>
        </p:spPr>
      </p:pic>
      <p:pic>
        <p:nvPicPr>
          <p:cNvPr id="9" name="Picture 8">
            <a:extLst>
              <a:ext uri="{FF2B5EF4-FFF2-40B4-BE49-F238E27FC236}">
                <a16:creationId xmlns:a16="http://schemas.microsoft.com/office/drawing/2014/main" id="{B174EF0C-9374-A7FE-9F0F-42FB1D8B8855}"/>
              </a:ext>
            </a:extLst>
          </p:cNvPr>
          <p:cNvPicPr>
            <a:picLocks noChangeAspect="1"/>
          </p:cNvPicPr>
          <p:nvPr/>
        </p:nvPicPr>
        <p:blipFill>
          <a:blip r:embed="rId4"/>
          <a:stretch>
            <a:fillRect/>
          </a:stretch>
        </p:blipFill>
        <p:spPr>
          <a:xfrm>
            <a:off x="6786026" y="1337985"/>
            <a:ext cx="2956816" cy="1959004"/>
          </a:xfrm>
          <a:prstGeom prst="rect">
            <a:avLst/>
          </a:prstGeom>
          <a:ln>
            <a:solidFill>
              <a:srgbClr val="0070C0"/>
            </a:solidFill>
          </a:ln>
        </p:spPr>
      </p:pic>
      <p:pic>
        <p:nvPicPr>
          <p:cNvPr id="11" name="Picture 10">
            <a:extLst>
              <a:ext uri="{FF2B5EF4-FFF2-40B4-BE49-F238E27FC236}">
                <a16:creationId xmlns:a16="http://schemas.microsoft.com/office/drawing/2014/main" id="{60406DA8-09C3-69BB-ADAC-FBC2D3099514}"/>
              </a:ext>
            </a:extLst>
          </p:cNvPr>
          <p:cNvPicPr>
            <a:picLocks noChangeAspect="1"/>
          </p:cNvPicPr>
          <p:nvPr/>
        </p:nvPicPr>
        <p:blipFill>
          <a:blip r:embed="rId5"/>
          <a:stretch>
            <a:fillRect/>
          </a:stretch>
        </p:blipFill>
        <p:spPr>
          <a:xfrm>
            <a:off x="416654" y="3288874"/>
            <a:ext cx="3071126" cy="1726832"/>
          </a:xfrm>
          <a:prstGeom prst="rect">
            <a:avLst/>
          </a:prstGeom>
          <a:ln>
            <a:solidFill>
              <a:srgbClr val="0070C0"/>
            </a:solidFill>
          </a:ln>
        </p:spPr>
      </p:pic>
      <p:pic>
        <p:nvPicPr>
          <p:cNvPr id="13" name="Picture 12">
            <a:extLst>
              <a:ext uri="{FF2B5EF4-FFF2-40B4-BE49-F238E27FC236}">
                <a16:creationId xmlns:a16="http://schemas.microsoft.com/office/drawing/2014/main" id="{2CCAED58-D70B-ABFA-38BB-0D7D0308F77A}"/>
              </a:ext>
            </a:extLst>
          </p:cNvPr>
          <p:cNvPicPr>
            <a:picLocks noChangeAspect="1"/>
          </p:cNvPicPr>
          <p:nvPr/>
        </p:nvPicPr>
        <p:blipFill>
          <a:blip r:embed="rId6"/>
          <a:stretch>
            <a:fillRect/>
          </a:stretch>
        </p:blipFill>
        <p:spPr>
          <a:xfrm>
            <a:off x="3487780" y="3296990"/>
            <a:ext cx="4028923" cy="1726832"/>
          </a:xfrm>
          <a:prstGeom prst="rect">
            <a:avLst/>
          </a:prstGeom>
          <a:ln>
            <a:solidFill>
              <a:srgbClr val="0070C0"/>
            </a:solidFill>
          </a:ln>
        </p:spPr>
      </p:pic>
      <p:pic>
        <p:nvPicPr>
          <p:cNvPr id="15" name="Picture 14">
            <a:extLst>
              <a:ext uri="{FF2B5EF4-FFF2-40B4-BE49-F238E27FC236}">
                <a16:creationId xmlns:a16="http://schemas.microsoft.com/office/drawing/2014/main" id="{5DDA941A-5498-2915-C622-4F353EB7C8D2}"/>
              </a:ext>
            </a:extLst>
          </p:cNvPr>
          <p:cNvPicPr>
            <a:picLocks noChangeAspect="1"/>
          </p:cNvPicPr>
          <p:nvPr/>
        </p:nvPicPr>
        <p:blipFill>
          <a:blip r:embed="rId7"/>
          <a:stretch>
            <a:fillRect/>
          </a:stretch>
        </p:blipFill>
        <p:spPr>
          <a:xfrm>
            <a:off x="7516703" y="3275817"/>
            <a:ext cx="3595946" cy="1748005"/>
          </a:xfrm>
          <a:prstGeom prst="rect">
            <a:avLst/>
          </a:prstGeom>
          <a:ln>
            <a:solidFill>
              <a:srgbClr val="0070C0"/>
            </a:solidFill>
          </a:ln>
        </p:spPr>
      </p:pic>
      <p:pic>
        <p:nvPicPr>
          <p:cNvPr id="17" name="Picture 16">
            <a:extLst>
              <a:ext uri="{FF2B5EF4-FFF2-40B4-BE49-F238E27FC236}">
                <a16:creationId xmlns:a16="http://schemas.microsoft.com/office/drawing/2014/main" id="{716415DE-7411-3EEB-2B00-997DAFD822C0}"/>
              </a:ext>
            </a:extLst>
          </p:cNvPr>
          <p:cNvPicPr>
            <a:picLocks noChangeAspect="1"/>
          </p:cNvPicPr>
          <p:nvPr/>
        </p:nvPicPr>
        <p:blipFill>
          <a:blip r:embed="rId8"/>
          <a:stretch>
            <a:fillRect/>
          </a:stretch>
        </p:blipFill>
        <p:spPr>
          <a:xfrm>
            <a:off x="416654" y="5023823"/>
            <a:ext cx="5145050" cy="1839210"/>
          </a:xfrm>
          <a:prstGeom prst="rect">
            <a:avLst/>
          </a:prstGeom>
          <a:ln>
            <a:solidFill>
              <a:srgbClr val="0070C0"/>
            </a:solidFill>
          </a:ln>
        </p:spPr>
      </p:pic>
      <p:pic>
        <p:nvPicPr>
          <p:cNvPr id="19" name="Picture 18">
            <a:extLst>
              <a:ext uri="{FF2B5EF4-FFF2-40B4-BE49-F238E27FC236}">
                <a16:creationId xmlns:a16="http://schemas.microsoft.com/office/drawing/2014/main" id="{44F79130-D0FC-3FB7-B265-52BF7D053FC4}"/>
              </a:ext>
            </a:extLst>
          </p:cNvPr>
          <p:cNvPicPr>
            <a:picLocks noChangeAspect="1"/>
          </p:cNvPicPr>
          <p:nvPr/>
        </p:nvPicPr>
        <p:blipFill>
          <a:blip r:embed="rId9"/>
          <a:stretch>
            <a:fillRect/>
          </a:stretch>
        </p:blipFill>
        <p:spPr>
          <a:xfrm>
            <a:off x="5959736" y="5031938"/>
            <a:ext cx="5913990" cy="1835402"/>
          </a:xfrm>
          <a:prstGeom prst="rect">
            <a:avLst/>
          </a:prstGeom>
          <a:ln>
            <a:solidFill>
              <a:srgbClr val="0070C0"/>
            </a:solidFill>
          </a:ln>
        </p:spPr>
      </p:pic>
    </p:spTree>
    <p:extLst>
      <p:ext uri="{BB962C8B-B14F-4D97-AF65-F5344CB8AC3E}">
        <p14:creationId xmlns:p14="http://schemas.microsoft.com/office/powerpoint/2010/main" val="18374387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F2428-EA45-D3FC-60CE-C2AF33460DF9}"/>
              </a:ext>
            </a:extLst>
          </p:cNvPr>
          <p:cNvSpPr>
            <a:spLocks noGrp="1"/>
          </p:cNvSpPr>
          <p:nvPr>
            <p:ph type="title"/>
          </p:nvPr>
        </p:nvSpPr>
        <p:spPr>
          <a:xfrm>
            <a:off x="838200" y="365126"/>
            <a:ext cx="10515600" cy="1054884"/>
          </a:xfrm>
          <a:ln>
            <a:solidFill>
              <a:srgbClr val="FF0000"/>
            </a:solidFill>
          </a:ln>
        </p:spPr>
        <p:txBody>
          <a:bodyPr>
            <a:normAutofit/>
          </a:bodyPr>
          <a:lstStyle/>
          <a:p>
            <a:pPr algn="ctr"/>
            <a:r>
              <a:rPr lang="en-IN" sz="2800" dirty="0">
                <a:latin typeface="Bahnschrift" panose="020B0502040204020203" pitchFamily="34" charset="0"/>
              </a:rPr>
              <a:t>Analysis of </a:t>
            </a:r>
            <a:r>
              <a:rPr lang="en-IN" sz="2800" dirty="0" err="1">
                <a:latin typeface="Bahnschrift" panose="020B0502040204020203" pitchFamily="34" charset="0"/>
              </a:rPr>
              <a:t>Organization_Type</a:t>
            </a:r>
            <a:endParaRPr lang="en-IN" sz="2800" dirty="0">
              <a:latin typeface="Bahnschrift" panose="020B0502040204020203" pitchFamily="34" charset="0"/>
            </a:endParaRPr>
          </a:p>
        </p:txBody>
      </p:sp>
      <p:sp>
        <p:nvSpPr>
          <p:cNvPr id="3" name="Content Placeholder 2">
            <a:extLst>
              <a:ext uri="{FF2B5EF4-FFF2-40B4-BE49-F238E27FC236}">
                <a16:creationId xmlns:a16="http://schemas.microsoft.com/office/drawing/2014/main" id="{66DFE502-19E9-CB94-89FD-63B29C53EAE8}"/>
              </a:ext>
            </a:extLst>
          </p:cNvPr>
          <p:cNvSpPr>
            <a:spLocks noGrp="1"/>
          </p:cNvSpPr>
          <p:nvPr>
            <p:ph idx="1"/>
          </p:nvPr>
        </p:nvSpPr>
        <p:spPr>
          <a:xfrm>
            <a:off x="838200" y="1559859"/>
            <a:ext cx="10515600" cy="4617104"/>
          </a:xfrm>
          <a:ln>
            <a:solidFill>
              <a:srgbClr val="0070C0"/>
            </a:solidFill>
          </a:ln>
        </p:spPr>
        <p:txBody>
          <a:bodyPr>
            <a:normAutofit/>
          </a:bodyPr>
          <a:lstStyle/>
          <a:p>
            <a:pPr algn="l">
              <a:buFont typeface="Wingdings" panose="05000000000000000000" pitchFamily="2" charset="2"/>
              <a:buChar char="Ø"/>
            </a:pPr>
            <a:r>
              <a:rPr lang="en-US" sz="1800" b="0" i="0" dirty="0">
                <a:solidFill>
                  <a:srgbClr val="000000"/>
                </a:solidFill>
                <a:effectLst/>
                <a:latin typeface="Bahnschrift" panose="020B0502040204020203" pitchFamily="34" charset="0"/>
              </a:rPr>
              <a:t>The attribute seems to be important because a person's financial condition is dependent on the type of organization he/she works in and its market growth.</a:t>
            </a:r>
          </a:p>
          <a:p>
            <a:pPr algn="l">
              <a:buFont typeface="Wingdings" panose="05000000000000000000" pitchFamily="2" charset="2"/>
              <a:buChar char="Ø"/>
            </a:pPr>
            <a:r>
              <a:rPr lang="en-US" sz="1800" b="0" i="0" dirty="0">
                <a:solidFill>
                  <a:srgbClr val="000000"/>
                </a:solidFill>
                <a:effectLst/>
                <a:latin typeface="Bahnschrift" panose="020B0502040204020203" pitchFamily="34" charset="0"/>
              </a:rPr>
              <a:t>But here in this dataset we can see a lot of categories for this attribute which might be a problem while applying machine learning model on it further because on applying One hot encoding there will be too many variables generated</a:t>
            </a:r>
          </a:p>
          <a:p>
            <a:pPr algn="l">
              <a:buFont typeface="Wingdings" panose="05000000000000000000" pitchFamily="2" charset="2"/>
              <a:buChar char="Ø"/>
            </a:pPr>
            <a:r>
              <a:rPr lang="en-US" sz="1800" b="0" i="0" dirty="0">
                <a:solidFill>
                  <a:srgbClr val="000000"/>
                </a:solidFill>
                <a:effectLst/>
                <a:latin typeface="Bahnschrift" panose="020B0502040204020203" pitchFamily="34" charset="0"/>
              </a:rPr>
              <a:t>Few categories can be merged combined together in order to reduce the variation</a:t>
            </a:r>
          </a:p>
          <a:p>
            <a:pPr algn="l">
              <a:buFont typeface="Wingdings" panose="05000000000000000000" pitchFamily="2" charset="2"/>
              <a:buChar char="Ø"/>
            </a:pPr>
            <a:r>
              <a:rPr lang="en-US" sz="1800" b="0" i="0" dirty="0">
                <a:solidFill>
                  <a:srgbClr val="000000"/>
                </a:solidFill>
                <a:effectLst/>
                <a:latin typeface="Bahnschrift" panose="020B0502040204020203" pitchFamily="34" charset="0"/>
              </a:rPr>
              <a:t>'XNA' seems to be null ( By Assumption )</a:t>
            </a:r>
          </a:p>
          <a:p>
            <a:pPr algn="l">
              <a:buFont typeface="Wingdings" panose="05000000000000000000" pitchFamily="2" charset="2"/>
              <a:buChar char="Ø"/>
            </a:pPr>
            <a:r>
              <a:rPr lang="en-US" sz="1800" b="0" i="0" dirty="0">
                <a:solidFill>
                  <a:srgbClr val="000000"/>
                </a:solidFill>
                <a:effectLst/>
                <a:latin typeface="Bahnschrift" panose="020B0502040204020203" pitchFamily="34" charset="0"/>
              </a:rPr>
              <a:t>All the business entity types have problem in paying loan as well as 'Other' category and 'Self-Employed'</a:t>
            </a:r>
          </a:p>
          <a:p>
            <a:pPr algn="l">
              <a:buFont typeface="Wingdings" panose="05000000000000000000" pitchFamily="2" charset="2"/>
              <a:buChar char="Ø"/>
            </a:pPr>
            <a:r>
              <a:rPr lang="en-US" sz="1800" b="0" i="0" dirty="0">
                <a:solidFill>
                  <a:srgbClr val="000000"/>
                </a:solidFill>
                <a:effectLst/>
                <a:latin typeface="Bahnschrift" panose="020B0502040204020203" pitchFamily="34" charset="0"/>
              </a:rPr>
              <a:t>Also these three organization types have taken loan most.</a:t>
            </a:r>
          </a:p>
          <a:p>
            <a:pPr algn="l">
              <a:buFont typeface="Wingdings" panose="05000000000000000000" pitchFamily="2" charset="2"/>
              <a:buChar char="Ø"/>
            </a:pPr>
            <a:r>
              <a:rPr lang="en-US" sz="1800" b="0" i="0" dirty="0">
                <a:solidFill>
                  <a:srgbClr val="000000"/>
                </a:solidFill>
                <a:effectLst/>
                <a:latin typeface="Bahnschrift" panose="020B0502040204020203" pitchFamily="34" charset="0"/>
              </a:rPr>
              <a:t>The Company might need to think of paying loan to these categories</a:t>
            </a:r>
          </a:p>
        </p:txBody>
      </p:sp>
    </p:spTree>
    <p:extLst>
      <p:ext uri="{BB962C8B-B14F-4D97-AF65-F5344CB8AC3E}">
        <p14:creationId xmlns:p14="http://schemas.microsoft.com/office/powerpoint/2010/main" val="12900016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A3669-FA5E-7705-7A97-07C773EC9E6D}"/>
              </a:ext>
            </a:extLst>
          </p:cNvPr>
          <p:cNvSpPr>
            <a:spLocks noGrp="1"/>
          </p:cNvSpPr>
          <p:nvPr>
            <p:ph type="title"/>
          </p:nvPr>
        </p:nvSpPr>
        <p:spPr>
          <a:xfrm>
            <a:off x="838200" y="365126"/>
            <a:ext cx="10515600" cy="753670"/>
          </a:xfrm>
          <a:ln>
            <a:solidFill>
              <a:srgbClr val="FF0000"/>
            </a:solidFill>
          </a:ln>
        </p:spPr>
        <p:txBody>
          <a:bodyPr>
            <a:normAutofit/>
          </a:bodyPr>
          <a:lstStyle/>
          <a:p>
            <a:pPr algn="ctr"/>
            <a:r>
              <a:rPr lang="en-IN" sz="2800" dirty="0">
                <a:latin typeface="Bahnschrift" panose="020B0502040204020203" pitchFamily="34" charset="0"/>
              </a:rPr>
              <a:t>Analysis of Numerical variables</a:t>
            </a:r>
          </a:p>
        </p:txBody>
      </p:sp>
      <p:sp>
        <p:nvSpPr>
          <p:cNvPr id="3" name="Content Placeholder 2">
            <a:extLst>
              <a:ext uri="{FF2B5EF4-FFF2-40B4-BE49-F238E27FC236}">
                <a16:creationId xmlns:a16="http://schemas.microsoft.com/office/drawing/2014/main" id="{92E7A1E9-AF64-0F73-7B01-CFD53A273359}"/>
              </a:ext>
            </a:extLst>
          </p:cNvPr>
          <p:cNvSpPr>
            <a:spLocks noGrp="1"/>
          </p:cNvSpPr>
          <p:nvPr>
            <p:ph idx="1"/>
          </p:nvPr>
        </p:nvSpPr>
        <p:spPr>
          <a:xfrm>
            <a:off x="838200" y="1290918"/>
            <a:ext cx="10515600" cy="4886045"/>
          </a:xfrm>
          <a:ln>
            <a:solidFill>
              <a:srgbClr val="0070C0"/>
            </a:solidFill>
          </a:ln>
        </p:spPr>
        <p:txBody>
          <a:bodyPr>
            <a:normAutofit/>
          </a:bodyPr>
          <a:lstStyle/>
          <a:p>
            <a:pPr>
              <a:buFont typeface="Wingdings" panose="05000000000000000000" pitchFamily="2" charset="2"/>
              <a:buChar char="Ø"/>
            </a:pPr>
            <a:r>
              <a:rPr lang="en-IN" sz="1800" dirty="0">
                <a:latin typeface="Bahnschrift" panose="020B0502040204020203" pitchFamily="34" charset="0"/>
              </a:rPr>
              <a:t>Count of Children in this dataset didn’t seem to be useful (applying </a:t>
            </a:r>
            <a:r>
              <a:rPr lang="en-IN" sz="1800" dirty="0" err="1">
                <a:latin typeface="Bahnschrift" panose="020B0502040204020203" pitchFamily="34" charset="0"/>
              </a:rPr>
              <a:t>realtime</a:t>
            </a:r>
            <a:r>
              <a:rPr lang="en-IN" sz="1800" dirty="0">
                <a:latin typeface="Bahnschrift" panose="020B0502040204020203" pitchFamily="34" charset="0"/>
              </a:rPr>
              <a:t> sense)</a:t>
            </a:r>
          </a:p>
          <a:p>
            <a:pPr>
              <a:buFont typeface="Wingdings" panose="05000000000000000000" pitchFamily="2" charset="2"/>
              <a:buChar char="Ø"/>
            </a:pPr>
            <a:r>
              <a:rPr lang="en-IN" sz="1800" dirty="0">
                <a:latin typeface="Bahnschrift" panose="020B0502040204020203" pitchFamily="34" charset="0"/>
              </a:rPr>
              <a:t>For ANT_INCOME_TOTAL did the outlier imputation by capping</a:t>
            </a:r>
          </a:p>
          <a:p>
            <a:pPr>
              <a:buFont typeface="Wingdings" panose="05000000000000000000" pitchFamily="2" charset="2"/>
              <a:buChar char="Ø"/>
            </a:pPr>
            <a:endParaRPr lang="en-IN" sz="1800" dirty="0">
              <a:latin typeface="Bahnschrift" panose="020B0502040204020203" pitchFamily="34" charset="0"/>
            </a:endParaRPr>
          </a:p>
        </p:txBody>
      </p:sp>
      <p:pic>
        <p:nvPicPr>
          <p:cNvPr id="5" name="Picture 4">
            <a:extLst>
              <a:ext uri="{FF2B5EF4-FFF2-40B4-BE49-F238E27FC236}">
                <a16:creationId xmlns:a16="http://schemas.microsoft.com/office/drawing/2014/main" id="{5CF6A5F9-2F44-906A-4F18-C7FB75B52A2A}"/>
              </a:ext>
            </a:extLst>
          </p:cNvPr>
          <p:cNvPicPr>
            <a:picLocks noChangeAspect="1"/>
          </p:cNvPicPr>
          <p:nvPr/>
        </p:nvPicPr>
        <p:blipFill>
          <a:blip r:embed="rId2"/>
          <a:stretch>
            <a:fillRect/>
          </a:stretch>
        </p:blipFill>
        <p:spPr>
          <a:xfrm>
            <a:off x="1172452" y="2131499"/>
            <a:ext cx="3048264" cy="1928027"/>
          </a:xfrm>
          <a:prstGeom prst="rect">
            <a:avLst/>
          </a:prstGeom>
          <a:ln>
            <a:solidFill>
              <a:srgbClr val="0070C0"/>
            </a:solidFill>
          </a:ln>
        </p:spPr>
      </p:pic>
      <p:pic>
        <p:nvPicPr>
          <p:cNvPr id="7" name="Picture 6">
            <a:extLst>
              <a:ext uri="{FF2B5EF4-FFF2-40B4-BE49-F238E27FC236}">
                <a16:creationId xmlns:a16="http://schemas.microsoft.com/office/drawing/2014/main" id="{855E6B1D-7554-2A0C-C0A6-A2FAF32920E4}"/>
              </a:ext>
            </a:extLst>
          </p:cNvPr>
          <p:cNvPicPr>
            <a:picLocks noChangeAspect="1"/>
          </p:cNvPicPr>
          <p:nvPr/>
        </p:nvPicPr>
        <p:blipFill>
          <a:blip r:embed="rId3"/>
          <a:stretch>
            <a:fillRect/>
          </a:stretch>
        </p:blipFill>
        <p:spPr>
          <a:xfrm>
            <a:off x="4339050" y="2116258"/>
            <a:ext cx="2705334" cy="1943268"/>
          </a:xfrm>
          <a:prstGeom prst="rect">
            <a:avLst/>
          </a:prstGeom>
          <a:ln>
            <a:solidFill>
              <a:srgbClr val="0070C0"/>
            </a:solidFill>
          </a:ln>
        </p:spPr>
      </p:pic>
      <p:sp>
        <p:nvSpPr>
          <p:cNvPr id="8" name="TextBox 7">
            <a:extLst>
              <a:ext uri="{FF2B5EF4-FFF2-40B4-BE49-F238E27FC236}">
                <a16:creationId xmlns:a16="http://schemas.microsoft.com/office/drawing/2014/main" id="{E7608F35-444F-DED4-3CDF-28EC887E1B1D}"/>
              </a:ext>
            </a:extLst>
          </p:cNvPr>
          <p:cNvSpPr txBox="1"/>
          <p:nvPr/>
        </p:nvSpPr>
        <p:spPr>
          <a:xfrm>
            <a:off x="7616414" y="2216075"/>
            <a:ext cx="2592593" cy="923330"/>
          </a:xfrm>
          <a:prstGeom prst="rect">
            <a:avLst/>
          </a:prstGeom>
          <a:noFill/>
          <a:ln>
            <a:solidFill>
              <a:srgbClr val="00B050"/>
            </a:solidFill>
          </a:ln>
        </p:spPr>
        <p:txBody>
          <a:bodyPr wrap="square" rtlCol="0">
            <a:spAutoFit/>
          </a:bodyPr>
          <a:lstStyle/>
          <a:p>
            <a:r>
              <a:rPr lang="en-IN" dirty="0">
                <a:latin typeface="Bahnschrift" panose="020B0502040204020203" pitchFamily="34" charset="0"/>
              </a:rPr>
              <a:t>The Distribution plot and box plot before Outlier imputation</a:t>
            </a:r>
          </a:p>
        </p:txBody>
      </p:sp>
      <p:pic>
        <p:nvPicPr>
          <p:cNvPr id="10" name="Picture 9">
            <a:extLst>
              <a:ext uri="{FF2B5EF4-FFF2-40B4-BE49-F238E27FC236}">
                <a16:creationId xmlns:a16="http://schemas.microsoft.com/office/drawing/2014/main" id="{D1E79382-93C8-1CA8-F206-620001F3C6F8}"/>
              </a:ext>
            </a:extLst>
          </p:cNvPr>
          <p:cNvPicPr>
            <a:picLocks noChangeAspect="1"/>
          </p:cNvPicPr>
          <p:nvPr/>
        </p:nvPicPr>
        <p:blipFill>
          <a:blip r:embed="rId4"/>
          <a:stretch>
            <a:fillRect/>
          </a:stretch>
        </p:blipFill>
        <p:spPr>
          <a:xfrm>
            <a:off x="1168866" y="4138989"/>
            <a:ext cx="5875518" cy="1958510"/>
          </a:xfrm>
          <a:prstGeom prst="rect">
            <a:avLst/>
          </a:prstGeom>
          <a:ln>
            <a:solidFill>
              <a:srgbClr val="0070C0"/>
            </a:solidFill>
          </a:ln>
        </p:spPr>
      </p:pic>
      <p:sp>
        <p:nvSpPr>
          <p:cNvPr id="11" name="TextBox 10">
            <a:extLst>
              <a:ext uri="{FF2B5EF4-FFF2-40B4-BE49-F238E27FC236}">
                <a16:creationId xmlns:a16="http://schemas.microsoft.com/office/drawing/2014/main" id="{C4E4EEAC-2AFB-B748-F856-A66A3C0CB291}"/>
              </a:ext>
            </a:extLst>
          </p:cNvPr>
          <p:cNvSpPr txBox="1"/>
          <p:nvPr/>
        </p:nvSpPr>
        <p:spPr>
          <a:xfrm>
            <a:off x="7616413" y="4433943"/>
            <a:ext cx="2592593" cy="923330"/>
          </a:xfrm>
          <a:prstGeom prst="rect">
            <a:avLst/>
          </a:prstGeom>
          <a:noFill/>
          <a:ln>
            <a:solidFill>
              <a:srgbClr val="00B050"/>
            </a:solidFill>
          </a:ln>
        </p:spPr>
        <p:txBody>
          <a:bodyPr wrap="square" rtlCol="0">
            <a:spAutoFit/>
          </a:bodyPr>
          <a:lstStyle/>
          <a:p>
            <a:r>
              <a:rPr lang="en-IN" dirty="0">
                <a:latin typeface="Bahnschrift" panose="020B0502040204020203" pitchFamily="34" charset="0"/>
              </a:rPr>
              <a:t>The Distribution plot and box plot after Outlier imputation</a:t>
            </a:r>
          </a:p>
        </p:txBody>
      </p:sp>
    </p:spTree>
    <p:extLst>
      <p:ext uri="{BB962C8B-B14F-4D97-AF65-F5344CB8AC3E}">
        <p14:creationId xmlns:p14="http://schemas.microsoft.com/office/powerpoint/2010/main" val="9175428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C8249-B7D1-DD86-C44D-B0E3B2381DF4}"/>
              </a:ext>
            </a:extLst>
          </p:cNvPr>
          <p:cNvSpPr>
            <a:spLocks noGrp="1"/>
          </p:cNvSpPr>
          <p:nvPr>
            <p:ph type="title"/>
          </p:nvPr>
        </p:nvSpPr>
        <p:spPr>
          <a:ln>
            <a:solidFill>
              <a:srgbClr val="FF0000"/>
            </a:solidFill>
          </a:ln>
        </p:spPr>
        <p:txBody>
          <a:bodyPr>
            <a:normAutofit/>
          </a:bodyPr>
          <a:lstStyle/>
          <a:p>
            <a:pPr algn="ctr"/>
            <a:r>
              <a:rPr lang="en-IN" sz="2800" dirty="0">
                <a:latin typeface="Bahnschrift" panose="020B0502040204020203" pitchFamily="34" charset="0"/>
              </a:rPr>
              <a:t>Analysis of Numerical variables</a:t>
            </a:r>
            <a:endParaRPr lang="en-IN" sz="2800" dirty="0"/>
          </a:p>
        </p:txBody>
      </p:sp>
      <p:sp>
        <p:nvSpPr>
          <p:cNvPr id="3" name="Content Placeholder 2">
            <a:extLst>
              <a:ext uri="{FF2B5EF4-FFF2-40B4-BE49-F238E27FC236}">
                <a16:creationId xmlns:a16="http://schemas.microsoft.com/office/drawing/2014/main" id="{929D387E-1A38-CC97-D583-104DAEFD7554}"/>
              </a:ext>
            </a:extLst>
          </p:cNvPr>
          <p:cNvSpPr>
            <a:spLocks noGrp="1"/>
          </p:cNvSpPr>
          <p:nvPr>
            <p:ph idx="1"/>
          </p:nvPr>
        </p:nvSpPr>
        <p:spPr>
          <a:ln>
            <a:solidFill>
              <a:srgbClr val="0070C0"/>
            </a:solidFill>
          </a:ln>
        </p:spPr>
        <p:txBody>
          <a:bodyPr>
            <a:normAutofit/>
          </a:bodyPr>
          <a:lstStyle/>
          <a:p>
            <a:pPr>
              <a:buFont typeface="Wingdings" panose="05000000000000000000" pitchFamily="2" charset="2"/>
              <a:buChar char="Ø"/>
            </a:pPr>
            <a:r>
              <a:rPr lang="en-IN" sz="1800" dirty="0">
                <a:latin typeface="Bahnschrift" panose="020B0502040204020203" pitchFamily="34" charset="0"/>
              </a:rPr>
              <a:t>The AMT_INCOME_TOTAL has been categorized based on 10 percentile group.</a:t>
            </a:r>
          </a:p>
          <a:p>
            <a:pPr>
              <a:buFont typeface="Wingdings" panose="05000000000000000000" pitchFamily="2" charset="2"/>
              <a:buChar char="Ø"/>
            </a:pPr>
            <a:r>
              <a:rPr lang="en-IN" sz="1800" dirty="0">
                <a:latin typeface="Bahnschrift" panose="020B0502040204020203" pitchFamily="34" charset="0"/>
              </a:rPr>
              <a:t>After that this is the loan defaulter picture for the attribute:</a:t>
            </a:r>
          </a:p>
          <a:p>
            <a:pPr>
              <a:buFont typeface="Wingdings" panose="05000000000000000000" pitchFamily="2" charset="2"/>
              <a:buChar char="Ø"/>
            </a:pPr>
            <a:endParaRPr lang="en-IN" sz="1800" dirty="0">
              <a:latin typeface="Bahnschrift" panose="020B0502040204020203" pitchFamily="34" charset="0"/>
            </a:endParaRPr>
          </a:p>
        </p:txBody>
      </p:sp>
      <p:pic>
        <p:nvPicPr>
          <p:cNvPr id="5" name="Picture 4">
            <a:extLst>
              <a:ext uri="{FF2B5EF4-FFF2-40B4-BE49-F238E27FC236}">
                <a16:creationId xmlns:a16="http://schemas.microsoft.com/office/drawing/2014/main" id="{B7D0144F-F77F-137E-2A42-070C55FEE413}"/>
              </a:ext>
            </a:extLst>
          </p:cNvPr>
          <p:cNvPicPr>
            <a:picLocks noChangeAspect="1"/>
          </p:cNvPicPr>
          <p:nvPr/>
        </p:nvPicPr>
        <p:blipFill>
          <a:blip r:embed="rId2"/>
          <a:stretch>
            <a:fillRect/>
          </a:stretch>
        </p:blipFill>
        <p:spPr>
          <a:xfrm>
            <a:off x="1391231" y="2527512"/>
            <a:ext cx="3223799" cy="2507067"/>
          </a:xfrm>
          <a:prstGeom prst="rect">
            <a:avLst/>
          </a:prstGeom>
          <a:ln>
            <a:solidFill>
              <a:srgbClr val="0070C0"/>
            </a:solidFill>
          </a:ln>
        </p:spPr>
      </p:pic>
      <p:sp>
        <p:nvSpPr>
          <p:cNvPr id="9" name="TextBox 8">
            <a:extLst>
              <a:ext uri="{FF2B5EF4-FFF2-40B4-BE49-F238E27FC236}">
                <a16:creationId xmlns:a16="http://schemas.microsoft.com/office/drawing/2014/main" id="{30BC4594-7FCA-7945-EEC3-139E37680157}"/>
              </a:ext>
            </a:extLst>
          </p:cNvPr>
          <p:cNvSpPr txBox="1"/>
          <p:nvPr/>
        </p:nvSpPr>
        <p:spPr>
          <a:xfrm>
            <a:off x="5056094" y="2527512"/>
            <a:ext cx="6099586" cy="2523768"/>
          </a:xfrm>
          <a:prstGeom prst="rect">
            <a:avLst/>
          </a:prstGeom>
          <a:noFill/>
          <a:ln>
            <a:solidFill>
              <a:srgbClr val="00B050"/>
            </a:solidFill>
          </a:ln>
        </p:spPr>
        <p:txBody>
          <a:bodyPr wrap="square" rtlCol="0">
            <a:spAutoFit/>
          </a:bodyPr>
          <a:lstStyle/>
          <a:p>
            <a:pPr marL="285750" indent="-285750" algn="l">
              <a:buFont typeface="Wingdings" panose="05000000000000000000" pitchFamily="2" charset="2"/>
              <a:buChar char="q"/>
            </a:pPr>
            <a:r>
              <a:rPr lang="en-US" sz="1400" b="0" i="0" dirty="0">
                <a:solidFill>
                  <a:srgbClr val="000000"/>
                </a:solidFill>
                <a:effectLst/>
                <a:latin typeface="Bahnschrift" panose="020B0502040204020203" pitchFamily="34" charset="0"/>
              </a:rPr>
              <a:t>This AMT_INCOME_TOTAL seems to be one of the most important attribute for detecting defaulter</a:t>
            </a:r>
          </a:p>
          <a:p>
            <a:pPr marL="285750" indent="-285750" algn="l">
              <a:buFont typeface="Wingdings" panose="05000000000000000000" pitchFamily="2" charset="2"/>
              <a:buChar char="q"/>
            </a:pPr>
            <a:r>
              <a:rPr lang="en-US" sz="1400" b="0" i="0" dirty="0">
                <a:solidFill>
                  <a:srgbClr val="000000"/>
                </a:solidFill>
                <a:effectLst/>
                <a:latin typeface="Bahnschrift" panose="020B0502040204020203" pitchFamily="34" charset="0"/>
              </a:rPr>
              <a:t>After creating the custom groups of Income amount based on 10 percentile gap , we can see that the lowest group </a:t>
            </a:r>
            <a:r>
              <a:rPr lang="en-US" sz="1400" b="0" i="0" dirty="0" err="1">
                <a:solidFill>
                  <a:srgbClr val="000000"/>
                </a:solidFill>
                <a:effectLst/>
                <a:latin typeface="Bahnschrift" panose="020B0502040204020203" pitchFamily="34" charset="0"/>
              </a:rPr>
              <a:t>i.e</a:t>
            </a:r>
            <a:r>
              <a:rPr lang="en-US" sz="1400" b="0" i="0" dirty="0">
                <a:solidFill>
                  <a:srgbClr val="000000"/>
                </a:solidFill>
                <a:effectLst/>
                <a:latin typeface="Bahnschrift" panose="020B0502040204020203" pitchFamily="34" charset="0"/>
              </a:rPr>
              <a:t>, persons belonging to the first 10 percentile group have the difficulties in repaying the loan. Surprisingly in 10 -20 percentile group the defaulters' count is less.</a:t>
            </a:r>
          </a:p>
          <a:p>
            <a:pPr marL="285750" indent="-285750" algn="l">
              <a:buFont typeface="Wingdings" panose="05000000000000000000" pitchFamily="2" charset="2"/>
              <a:buChar char="q"/>
            </a:pPr>
            <a:r>
              <a:rPr lang="en-US" sz="1400" b="0" i="0" dirty="0">
                <a:solidFill>
                  <a:srgbClr val="000000"/>
                </a:solidFill>
                <a:effectLst/>
                <a:latin typeface="Bahnschrift" panose="020B0502040204020203" pitchFamily="34" charset="0"/>
              </a:rPr>
              <a:t>Again Medium level (30-40) percentile group comes immediate after the 10 percentile group</a:t>
            </a:r>
          </a:p>
          <a:p>
            <a:pPr marL="285750" indent="-285750" algn="l">
              <a:buFont typeface="Wingdings" panose="05000000000000000000" pitchFamily="2" charset="2"/>
              <a:buChar char="q"/>
            </a:pPr>
            <a:r>
              <a:rPr lang="en-US" sz="1400" b="0" i="0" dirty="0">
                <a:solidFill>
                  <a:srgbClr val="000000"/>
                </a:solidFill>
                <a:effectLst/>
                <a:latin typeface="Bahnschrift" panose="020B0502040204020203" pitchFamily="34" charset="0"/>
              </a:rPr>
              <a:t>70-80 percentile group coming in the next number to it.</a:t>
            </a:r>
          </a:p>
          <a:p>
            <a:endParaRPr lang="en-IN" dirty="0">
              <a:latin typeface="Bahnschrift" panose="020B0502040204020203" pitchFamily="34" charset="0"/>
            </a:endParaRPr>
          </a:p>
        </p:txBody>
      </p:sp>
    </p:spTree>
    <p:extLst>
      <p:ext uri="{BB962C8B-B14F-4D97-AF65-F5344CB8AC3E}">
        <p14:creationId xmlns:p14="http://schemas.microsoft.com/office/powerpoint/2010/main" val="1208726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9177D-6FC1-732C-5B62-14856095C59F}"/>
              </a:ext>
            </a:extLst>
          </p:cNvPr>
          <p:cNvSpPr>
            <a:spLocks noGrp="1"/>
          </p:cNvSpPr>
          <p:nvPr>
            <p:ph type="title"/>
          </p:nvPr>
        </p:nvSpPr>
        <p:spPr>
          <a:xfrm>
            <a:off x="838200" y="365125"/>
            <a:ext cx="10515600" cy="925793"/>
          </a:xfrm>
          <a:ln>
            <a:solidFill>
              <a:srgbClr val="FF0000"/>
            </a:solidFill>
          </a:ln>
        </p:spPr>
        <p:txBody>
          <a:bodyPr>
            <a:normAutofit/>
          </a:bodyPr>
          <a:lstStyle/>
          <a:p>
            <a:pPr algn="ctr"/>
            <a:r>
              <a:rPr lang="en-IN" sz="2800" dirty="0">
                <a:latin typeface="Bahnschrift" panose="020B0502040204020203" pitchFamily="34" charset="0"/>
              </a:rPr>
              <a:t>Analysis of Numerical variables</a:t>
            </a:r>
            <a:endParaRPr lang="en-IN" sz="2800" dirty="0"/>
          </a:p>
        </p:txBody>
      </p:sp>
      <p:sp>
        <p:nvSpPr>
          <p:cNvPr id="3" name="Content Placeholder 2">
            <a:extLst>
              <a:ext uri="{FF2B5EF4-FFF2-40B4-BE49-F238E27FC236}">
                <a16:creationId xmlns:a16="http://schemas.microsoft.com/office/drawing/2014/main" id="{B240DFC7-45D2-1493-65C7-5D5F33D60E15}"/>
              </a:ext>
            </a:extLst>
          </p:cNvPr>
          <p:cNvSpPr>
            <a:spLocks noGrp="1"/>
          </p:cNvSpPr>
          <p:nvPr>
            <p:ph idx="1"/>
          </p:nvPr>
        </p:nvSpPr>
        <p:spPr>
          <a:xfrm>
            <a:off x="838200" y="1516828"/>
            <a:ext cx="10515600" cy="4660135"/>
          </a:xfrm>
          <a:ln>
            <a:solidFill>
              <a:srgbClr val="0070C0"/>
            </a:solidFill>
          </a:ln>
        </p:spPr>
        <p:txBody>
          <a:bodyPr>
            <a:normAutofit/>
          </a:bodyPr>
          <a:lstStyle/>
          <a:p>
            <a:pPr>
              <a:buFont typeface="Wingdings" panose="05000000000000000000" pitchFamily="2" charset="2"/>
              <a:buChar char="q"/>
            </a:pPr>
            <a:r>
              <a:rPr lang="en-US" sz="1800" b="0" i="0" dirty="0">
                <a:solidFill>
                  <a:srgbClr val="000000"/>
                </a:solidFill>
                <a:effectLst/>
                <a:latin typeface="Bahnschrift" panose="020B0502040204020203" pitchFamily="34" charset="0"/>
              </a:rPr>
              <a:t>There is a positive correlation present between AMT_INCOME_TOTAL and AMT_CREDIT for both Defaulter and Non-Defaulter categories of TARGET.</a:t>
            </a:r>
          </a:p>
          <a:p>
            <a:pPr>
              <a:buFont typeface="Wingdings" panose="05000000000000000000" pitchFamily="2" charset="2"/>
              <a:buChar char="q"/>
            </a:pPr>
            <a:r>
              <a:rPr lang="en-US" sz="1800" dirty="0">
                <a:solidFill>
                  <a:srgbClr val="000000"/>
                </a:solidFill>
                <a:latin typeface="Bahnschrift" panose="020B0502040204020203" pitchFamily="34" charset="0"/>
              </a:rPr>
              <a:t>The persons who have been accompanied by children factor or </a:t>
            </a:r>
            <a:r>
              <a:rPr lang="en-US" sz="1800" dirty="0" err="1">
                <a:solidFill>
                  <a:srgbClr val="000000"/>
                </a:solidFill>
                <a:latin typeface="Bahnschrift" panose="020B0502040204020203" pitchFamily="34" charset="0"/>
              </a:rPr>
              <a:t>spouse,partner</a:t>
            </a:r>
            <a:r>
              <a:rPr lang="en-US" sz="1800" dirty="0">
                <a:solidFill>
                  <a:srgbClr val="000000"/>
                </a:solidFill>
                <a:latin typeface="Bahnschrift" panose="020B0502040204020203" pitchFamily="34" charset="0"/>
              </a:rPr>
              <a:t> </a:t>
            </a:r>
            <a:r>
              <a:rPr lang="en-US" sz="1800" dirty="0" err="1">
                <a:solidFill>
                  <a:srgbClr val="000000"/>
                </a:solidFill>
                <a:latin typeface="Bahnschrift" panose="020B0502040204020203" pitchFamily="34" charset="0"/>
              </a:rPr>
              <a:t>haave</a:t>
            </a:r>
            <a:r>
              <a:rPr lang="en-US" sz="1800" dirty="0">
                <a:solidFill>
                  <a:srgbClr val="000000"/>
                </a:solidFill>
                <a:latin typeface="Bahnschrift" panose="020B0502040204020203" pitchFamily="34" charset="0"/>
              </a:rPr>
              <a:t> higher chances of being defaulter as the median amount of loan of those categories are highest.</a:t>
            </a:r>
          </a:p>
          <a:p>
            <a:pPr>
              <a:buFont typeface="Wingdings" panose="05000000000000000000" pitchFamily="2" charset="2"/>
              <a:buChar char="q"/>
            </a:pPr>
            <a:endParaRPr lang="en-US" sz="1800" dirty="0">
              <a:solidFill>
                <a:srgbClr val="000000"/>
              </a:solidFill>
              <a:latin typeface="Bahnschrift" panose="020B0502040204020203" pitchFamily="34" charset="0"/>
            </a:endParaRPr>
          </a:p>
          <a:p>
            <a:pPr>
              <a:buFont typeface="Wingdings" panose="05000000000000000000" pitchFamily="2" charset="2"/>
              <a:buChar char="q"/>
            </a:pPr>
            <a:endParaRPr lang="en-US" sz="1800" b="0" i="0" dirty="0">
              <a:solidFill>
                <a:srgbClr val="000000"/>
              </a:solidFill>
              <a:effectLst/>
              <a:latin typeface="Bahnschrift" panose="020B0502040204020203" pitchFamily="34" charset="0"/>
            </a:endParaRPr>
          </a:p>
          <a:p>
            <a:pPr marL="0" indent="0">
              <a:buNone/>
            </a:pPr>
            <a:endParaRPr lang="en-IN" sz="1800" dirty="0">
              <a:latin typeface="Bahnschrift" panose="020B0502040204020203" pitchFamily="34" charset="0"/>
            </a:endParaRPr>
          </a:p>
          <a:p>
            <a:pPr marL="0" indent="0">
              <a:buNone/>
            </a:pPr>
            <a:endParaRPr lang="en-IN" sz="1800" dirty="0">
              <a:latin typeface="Bahnschrift" panose="020B0502040204020203" pitchFamily="34" charset="0"/>
            </a:endParaRPr>
          </a:p>
          <a:p>
            <a:pPr marL="0" indent="0">
              <a:buNone/>
            </a:pPr>
            <a:endParaRPr lang="en-IN" sz="1800" dirty="0">
              <a:latin typeface="Bahnschrift" panose="020B0502040204020203" pitchFamily="34" charset="0"/>
            </a:endParaRPr>
          </a:p>
          <a:p>
            <a:pPr marL="0" indent="0">
              <a:buNone/>
            </a:pPr>
            <a:endParaRPr lang="en-IN" sz="1800" dirty="0">
              <a:latin typeface="Bahnschrift" panose="020B0502040204020203" pitchFamily="34" charset="0"/>
            </a:endParaRPr>
          </a:p>
          <a:p>
            <a:pPr>
              <a:buFont typeface="Wingdings" panose="05000000000000000000" pitchFamily="2" charset="2"/>
              <a:buChar char="q"/>
            </a:pPr>
            <a:r>
              <a:rPr lang="en-US" sz="1800" i="0" dirty="0">
                <a:solidFill>
                  <a:srgbClr val="000000"/>
                </a:solidFill>
                <a:effectLst/>
                <a:latin typeface="Bahnschrift" panose="020B0502040204020203" pitchFamily="34" charset="0"/>
              </a:rPr>
              <a:t>For AMT_GOODS_PRICE only 2% are outlier. So we can remove these outliers.</a:t>
            </a:r>
          </a:p>
          <a:p>
            <a:pPr>
              <a:buFont typeface="Wingdings" panose="05000000000000000000" pitchFamily="2" charset="2"/>
              <a:buChar char="q"/>
            </a:pPr>
            <a:r>
              <a:rPr lang="en-US" sz="1800" b="0" i="0" dirty="0">
                <a:solidFill>
                  <a:srgbClr val="000000"/>
                </a:solidFill>
                <a:effectLst/>
                <a:latin typeface="Bahnschrift" panose="020B0502040204020203" pitchFamily="34" charset="0"/>
              </a:rPr>
              <a:t>The Cash loan category has pretty high median AMT_GOODS_PRICE , means for them the price of the goods for which they have applied loan is higher.</a:t>
            </a:r>
          </a:p>
          <a:p>
            <a:pPr>
              <a:buFont typeface="Wingdings" panose="05000000000000000000" pitchFamily="2" charset="2"/>
              <a:buChar char="q"/>
            </a:pPr>
            <a:endParaRPr lang="en-IN" sz="1800" dirty="0">
              <a:latin typeface="Bahnschrift" panose="020B0502040204020203" pitchFamily="34" charset="0"/>
            </a:endParaRPr>
          </a:p>
        </p:txBody>
      </p:sp>
      <p:pic>
        <p:nvPicPr>
          <p:cNvPr id="5" name="Picture 4">
            <a:extLst>
              <a:ext uri="{FF2B5EF4-FFF2-40B4-BE49-F238E27FC236}">
                <a16:creationId xmlns:a16="http://schemas.microsoft.com/office/drawing/2014/main" id="{EE8D8050-C994-D119-33FA-84E1A15916C2}"/>
              </a:ext>
            </a:extLst>
          </p:cNvPr>
          <p:cNvPicPr>
            <a:picLocks noChangeAspect="1"/>
          </p:cNvPicPr>
          <p:nvPr/>
        </p:nvPicPr>
        <p:blipFill>
          <a:blip r:embed="rId2"/>
          <a:stretch>
            <a:fillRect/>
          </a:stretch>
        </p:blipFill>
        <p:spPr>
          <a:xfrm>
            <a:off x="1148289" y="2882881"/>
            <a:ext cx="2541584" cy="1938267"/>
          </a:xfrm>
          <a:prstGeom prst="rect">
            <a:avLst/>
          </a:prstGeom>
          <a:ln>
            <a:solidFill>
              <a:srgbClr val="0070C0"/>
            </a:solidFill>
          </a:ln>
        </p:spPr>
      </p:pic>
      <p:sp>
        <p:nvSpPr>
          <p:cNvPr id="7" name="TextBox 6">
            <a:extLst>
              <a:ext uri="{FF2B5EF4-FFF2-40B4-BE49-F238E27FC236}">
                <a16:creationId xmlns:a16="http://schemas.microsoft.com/office/drawing/2014/main" id="{9B937E40-399E-46B9-A819-33CBADD77ED1}"/>
              </a:ext>
            </a:extLst>
          </p:cNvPr>
          <p:cNvSpPr txBox="1"/>
          <p:nvPr/>
        </p:nvSpPr>
        <p:spPr>
          <a:xfrm>
            <a:off x="3999962" y="2974489"/>
            <a:ext cx="5617373" cy="1846659"/>
          </a:xfrm>
          <a:prstGeom prst="rect">
            <a:avLst/>
          </a:prstGeom>
          <a:noFill/>
          <a:ln>
            <a:solidFill>
              <a:srgbClr val="00B050"/>
            </a:solidFill>
          </a:ln>
        </p:spPr>
        <p:txBody>
          <a:bodyPr wrap="square" rtlCol="0">
            <a:spAutoFit/>
          </a:bodyPr>
          <a:lstStyle/>
          <a:p>
            <a:pPr algn="l">
              <a:buFont typeface="Arial" panose="020B0604020202020204" pitchFamily="34" charset="0"/>
              <a:buChar char="•"/>
            </a:pPr>
            <a:r>
              <a:rPr lang="en-US" sz="1200" b="0" i="0" dirty="0">
                <a:solidFill>
                  <a:srgbClr val="000000"/>
                </a:solidFill>
                <a:effectLst/>
                <a:latin typeface="Bahnschrift" panose="020B0502040204020203" pitchFamily="34" charset="0"/>
              </a:rPr>
              <a:t>Businessmen count for defaulter is null, seems that no business man have been defaulter. So for them the median of loan annuity is 0.</a:t>
            </a:r>
          </a:p>
          <a:p>
            <a:pPr algn="l">
              <a:buFont typeface="Arial" panose="020B0604020202020204" pitchFamily="34" charset="0"/>
              <a:buChar char="•"/>
            </a:pPr>
            <a:r>
              <a:rPr lang="en-US" sz="1200" b="0" i="0" dirty="0">
                <a:solidFill>
                  <a:srgbClr val="000000"/>
                </a:solidFill>
                <a:effectLst/>
                <a:latin typeface="Bahnschrift" panose="020B0502040204020203" pitchFamily="34" charset="0"/>
              </a:rPr>
              <a:t>Commercial Associates are highest in count in terms of being defaulter. Their Median Annuity amount is highest.</a:t>
            </a:r>
          </a:p>
          <a:p>
            <a:pPr algn="l">
              <a:buFont typeface="Arial" panose="020B0604020202020204" pitchFamily="34" charset="0"/>
              <a:buChar char="•"/>
            </a:pPr>
            <a:r>
              <a:rPr lang="en-US" sz="1200" b="0" i="0" dirty="0">
                <a:solidFill>
                  <a:srgbClr val="000000"/>
                </a:solidFill>
                <a:effectLst/>
                <a:latin typeface="Bahnschrift" panose="020B0502040204020203" pitchFamily="34" charset="0"/>
              </a:rPr>
              <a:t>The Maternity Leave taken persons being little in count , they have very high median annuity amount.</a:t>
            </a:r>
          </a:p>
          <a:p>
            <a:pPr algn="l">
              <a:buFont typeface="Arial" panose="020B0604020202020204" pitchFamily="34" charset="0"/>
              <a:buChar char="•"/>
            </a:pPr>
            <a:r>
              <a:rPr lang="en-US" sz="1200" b="0" i="0" dirty="0">
                <a:solidFill>
                  <a:srgbClr val="000000"/>
                </a:solidFill>
                <a:effectLst/>
                <a:latin typeface="Bahnschrift" panose="020B0502040204020203" pitchFamily="34" charset="0"/>
              </a:rPr>
              <a:t>For working persons the count of defaulter is less than the count of non-defaulters but the median Amount of a loan annuity for defaulters is quite high</a:t>
            </a:r>
          </a:p>
          <a:p>
            <a:endParaRPr lang="en-IN" dirty="0"/>
          </a:p>
        </p:txBody>
      </p:sp>
    </p:spTree>
    <p:extLst>
      <p:ext uri="{BB962C8B-B14F-4D97-AF65-F5344CB8AC3E}">
        <p14:creationId xmlns:p14="http://schemas.microsoft.com/office/powerpoint/2010/main" val="35766131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08D8C-2083-A439-0A5F-7CC77DE0EA9A}"/>
              </a:ext>
            </a:extLst>
          </p:cNvPr>
          <p:cNvSpPr>
            <a:spLocks noGrp="1"/>
          </p:cNvSpPr>
          <p:nvPr>
            <p:ph type="title"/>
          </p:nvPr>
        </p:nvSpPr>
        <p:spPr>
          <a:ln>
            <a:solidFill>
              <a:srgbClr val="FF0000"/>
            </a:solidFill>
          </a:ln>
        </p:spPr>
        <p:txBody>
          <a:bodyPr>
            <a:normAutofit/>
          </a:bodyPr>
          <a:lstStyle/>
          <a:p>
            <a:pPr algn="ctr"/>
            <a:r>
              <a:rPr lang="en-IN" sz="2800" dirty="0">
                <a:latin typeface="Bahnschrift" panose="020B0502040204020203" pitchFamily="34" charset="0"/>
              </a:rPr>
              <a:t>Analysis of Numerical variables</a:t>
            </a:r>
            <a:endParaRPr lang="en-IN" sz="2800" dirty="0"/>
          </a:p>
        </p:txBody>
      </p:sp>
      <p:sp>
        <p:nvSpPr>
          <p:cNvPr id="3" name="Content Placeholder 2">
            <a:extLst>
              <a:ext uri="{FF2B5EF4-FFF2-40B4-BE49-F238E27FC236}">
                <a16:creationId xmlns:a16="http://schemas.microsoft.com/office/drawing/2014/main" id="{6EEC027B-2673-7085-4762-AA92172685CD}"/>
              </a:ext>
            </a:extLst>
          </p:cNvPr>
          <p:cNvSpPr>
            <a:spLocks noGrp="1"/>
          </p:cNvSpPr>
          <p:nvPr>
            <p:ph idx="1"/>
          </p:nvPr>
        </p:nvSpPr>
        <p:spPr>
          <a:ln>
            <a:solidFill>
              <a:srgbClr val="0070C0"/>
            </a:solidFill>
          </a:ln>
        </p:spPr>
        <p:txBody>
          <a:bodyPr>
            <a:normAutofit/>
          </a:bodyPr>
          <a:lstStyle/>
          <a:p>
            <a:pPr>
              <a:buFont typeface="Wingdings" panose="05000000000000000000" pitchFamily="2" charset="2"/>
              <a:buChar char="q"/>
            </a:pPr>
            <a:r>
              <a:rPr lang="en-IN" sz="1800" dirty="0">
                <a:latin typeface="Bahnschrift" panose="020B0502040204020203" pitchFamily="34" charset="0"/>
              </a:rPr>
              <a:t>Below attributes have been found with multi-collinearity but except the ‘REGION_POPULATION_RELATIVE’ all these attributes are very important.</a:t>
            </a:r>
          </a:p>
          <a:p>
            <a:pPr>
              <a:buFont typeface="Wingdings" panose="05000000000000000000" pitchFamily="2" charset="2"/>
              <a:buChar char="q"/>
            </a:pPr>
            <a:r>
              <a:rPr lang="en-IN" sz="1800" dirty="0">
                <a:latin typeface="Bahnschrift" panose="020B0502040204020203" pitchFamily="34" charset="0"/>
              </a:rPr>
              <a:t>Below is the heatmap:</a:t>
            </a:r>
          </a:p>
          <a:p>
            <a:pPr marL="0" indent="0">
              <a:buNone/>
            </a:pPr>
            <a:endParaRPr lang="en-IN" sz="1800" dirty="0">
              <a:latin typeface="Bahnschrift" panose="020B0502040204020203" pitchFamily="34" charset="0"/>
            </a:endParaRPr>
          </a:p>
        </p:txBody>
      </p:sp>
      <p:pic>
        <p:nvPicPr>
          <p:cNvPr id="5" name="Picture 4">
            <a:extLst>
              <a:ext uri="{FF2B5EF4-FFF2-40B4-BE49-F238E27FC236}">
                <a16:creationId xmlns:a16="http://schemas.microsoft.com/office/drawing/2014/main" id="{4B5E0A99-8C3F-BC8A-99E0-96612A80187C}"/>
              </a:ext>
            </a:extLst>
          </p:cNvPr>
          <p:cNvPicPr>
            <a:picLocks noChangeAspect="1"/>
          </p:cNvPicPr>
          <p:nvPr/>
        </p:nvPicPr>
        <p:blipFill>
          <a:blip r:embed="rId2"/>
          <a:stretch>
            <a:fillRect/>
          </a:stretch>
        </p:blipFill>
        <p:spPr>
          <a:xfrm>
            <a:off x="1585694" y="2843921"/>
            <a:ext cx="3749365" cy="3063505"/>
          </a:xfrm>
          <a:prstGeom prst="rect">
            <a:avLst/>
          </a:prstGeom>
          <a:ln>
            <a:solidFill>
              <a:srgbClr val="0070C0"/>
            </a:solidFill>
          </a:ln>
        </p:spPr>
      </p:pic>
      <p:sp>
        <p:nvSpPr>
          <p:cNvPr id="6" name="TextBox 5">
            <a:extLst>
              <a:ext uri="{FF2B5EF4-FFF2-40B4-BE49-F238E27FC236}">
                <a16:creationId xmlns:a16="http://schemas.microsoft.com/office/drawing/2014/main" id="{B50A6FCD-5948-480D-E64A-D04E2C8B96F5}"/>
              </a:ext>
            </a:extLst>
          </p:cNvPr>
          <p:cNvSpPr txBox="1"/>
          <p:nvPr/>
        </p:nvSpPr>
        <p:spPr>
          <a:xfrm>
            <a:off x="6325496" y="2764715"/>
            <a:ext cx="3765177" cy="2862322"/>
          </a:xfrm>
          <a:prstGeom prst="rect">
            <a:avLst/>
          </a:prstGeom>
          <a:noFill/>
          <a:ln>
            <a:solidFill>
              <a:srgbClr val="00B050"/>
            </a:solidFill>
          </a:ln>
        </p:spPr>
        <p:txBody>
          <a:bodyPr wrap="square" rtlCol="0">
            <a:spAutoFit/>
          </a:bodyPr>
          <a:lstStyle/>
          <a:p>
            <a:pPr marL="285750" indent="-285750" algn="l">
              <a:buFont typeface="Wingdings" panose="05000000000000000000" pitchFamily="2" charset="2"/>
              <a:buChar char="q"/>
            </a:pPr>
            <a:r>
              <a:rPr lang="en-US" b="0" i="0" dirty="0">
                <a:solidFill>
                  <a:srgbClr val="000000"/>
                </a:solidFill>
                <a:effectLst/>
                <a:latin typeface="Bahnschrift" panose="020B0502040204020203" pitchFamily="34" charset="0"/>
              </a:rPr>
              <a:t>The multicollinearity can be seen here between AMT_CREDIT, AMT_ANNUITY, AMT_GOODS_PRICE</a:t>
            </a:r>
          </a:p>
          <a:p>
            <a:pPr marL="285750" indent="-285750" algn="l">
              <a:buFont typeface="Wingdings" panose="05000000000000000000" pitchFamily="2" charset="2"/>
              <a:buChar char="q"/>
            </a:pPr>
            <a:r>
              <a:rPr lang="en-US" b="0" i="0" dirty="0">
                <a:solidFill>
                  <a:srgbClr val="000000"/>
                </a:solidFill>
                <a:effectLst/>
                <a:latin typeface="Bahnschrift" panose="020B0502040204020203" pitchFamily="34" charset="0"/>
              </a:rPr>
              <a:t>VIF(Variance Inflation Factor) can be done for identifying the multicollinearity and also we can understand important features from here</a:t>
            </a:r>
          </a:p>
          <a:p>
            <a:pPr marL="285750" indent="-285750">
              <a:buFont typeface="Wingdings" panose="05000000000000000000" pitchFamily="2" charset="2"/>
              <a:buChar char="q"/>
            </a:pPr>
            <a:endParaRPr lang="en-IN" dirty="0">
              <a:latin typeface="Bahnschrift" panose="020B0502040204020203" pitchFamily="34" charset="0"/>
            </a:endParaRPr>
          </a:p>
        </p:txBody>
      </p:sp>
    </p:spTree>
    <p:extLst>
      <p:ext uri="{BB962C8B-B14F-4D97-AF65-F5344CB8AC3E}">
        <p14:creationId xmlns:p14="http://schemas.microsoft.com/office/powerpoint/2010/main" val="28012155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E41CE-5165-6A99-611B-4D4110613A19}"/>
              </a:ext>
            </a:extLst>
          </p:cNvPr>
          <p:cNvSpPr>
            <a:spLocks noGrp="1"/>
          </p:cNvSpPr>
          <p:nvPr>
            <p:ph type="title"/>
          </p:nvPr>
        </p:nvSpPr>
        <p:spPr>
          <a:ln>
            <a:solidFill>
              <a:srgbClr val="FF0000"/>
            </a:solidFill>
          </a:ln>
        </p:spPr>
        <p:txBody>
          <a:bodyPr>
            <a:normAutofit/>
          </a:bodyPr>
          <a:lstStyle/>
          <a:p>
            <a:pPr algn="ctr"/>
            <a:r>
              <a:rPr lang="en-IN" sz="2800" dirty="0">
                <a:latin typeface="Bahnschrift" panose="020B0502040204020203" pitchFamily="34" charset="0"/>
              </a:rPr>
              <a:t>Final Analysis and Conclusion</a:t>
            </a:r>
          </a:p>
        </p:txBody>
      </p:sp>
      <p:pic>
        <p:nvPicPr>
          <p:cNvPr id="5" name="Content Placeholder 4">
            <a:extLst>
              <a:ext uri="{FF2B5EF4-FFF2-40B4-BE49-F238E27FC236}">
                <a16:creationId xmlns:a16="http://schemas.microsoft.com/office/drawing/2014/main" id="{3D9F7462-11EF-D412-7F73-58F53899BA33}"/>
              </a:ext>
            </a:extLst>
          </p:cNvPr>
          <p:cNvPicPr>
            <a:picLocks noGrp="1" noChangeAspect="1"/>
          </p:cNvPicPr>
          <p:nvPr>
            <p:ph idx="1"/>
          </p:nvPr>
        </p:nvPicPr>
        <p:blipFill>
          <a:blip r:embed="rId2"/>
          <a:stretch>
            <a:fillRect/>
          </a:stretch>
        </p:blipFill>
        <p:spPr>
          <a:xfrm>
            <a:off x="943340" y="1812208"/>
            <a:ext cx="4496190" cy="2979678"/>
          </a:xfrm>
          <a:ln>
            <a:solidFill>
              <a:srgbClr val="0070C0"/>
            </a:solidFill>
          </a:ln>
        </p:spPr>
      </p:pic>
      <p:sp>
        <p:nvSpPr>
          <p:cNvPr id="6" name="TextBox 5">
            <a:extLst>
              <a:ext uri="{FF2B5EF4-FFF2-40B4-BE49-F238E27FC236}">
                <a16:creationId xmlns:a16="http://schemas.microsoft.com/office/drawing/2014/main" id="{F4943032-3A9C-8706-5B31-46C02CCC1686}"/>
              </a:ext>
            </a:extLst>
          </p:cNvPr>
          <p:cNvSpPr txBox="1"/>
          <p:nvPr/>
        </p:nvSpPr>
        <p:spPr>
          <a:xfrm>
            <a:off x="6217920" y="1914861"/>
            <a:ext cx="4604273" cy="923330"/>
          </a:xfrm>
          <a:prstGeom prst="rect">
            <a:avLst/>
          </a:prstGeom>
          <a:noFill/>
          <a:ln>
            <a:solidFill>
              <a:srgbClr val="00B050"/>
            </a:solidFill>
          </a:ln>
        </p:spPr>
        <p:txBody>
          <a:bodyPr wrap="square" rtlCol="0">
            <a:spAutoFit/>
          </a:bodyPr>
          <a:lstStyle/>
          <a:p>
            <a:r>
              <a:rPr lang="en-IN" dirty="0">
                <a:latin typeface="Bahnschrift" panose="020B0502040204020203" pitchFamily="34" charset="0"/>
              </a:rPr>
              <a:t>These are the final list of columns which I found to be most important. The total number is 57.</a:t>
            </a:r>
          </a:p>
        </p:txBody>
      </p:sp>
    </p:spTree>
    <p:extLst>
      <p:ext uri="{BB962C8B-B14F-4D97-AF65-F5344CB8AC3E}">
        <p14:creationId xmlns:p14="http://schemas.microsoft.com/office/powerpoint/2010/main" val="41751363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92968-5C34-0BFF-88B4-E4845FA29EDE}"/>
              </a:ext>
            </a:extLst>
          </p:cNvPr>
          <p:cNvSpPr>
            <a:spLocks noGrp="1"/>
          </p:cNvSpPr>
          <p:nvPr>
            <p:ph type="title"/>
          </p:nvPr>
        </p:nvSpPr>
        <p:spPr>
          <a:ln>
            <a:solidFill>
              <a:srgbClr val="C00000"/>
            </a:solidFill>
          </a:ln>
        </p:spPr>
        <p:txBody>
          <a:bodyPr>
            <a:normAutofit/>
          </a:bodyPr>
          <a:lstStyle/>
          <a:p>
            <a:pPr algn="ctr"/>
            <a:r>
              <a:rPr lang="en-IN" sz="2800" dirty="0">
                <a:latin typeface="Bahnschrift" panose="020B0502040204020203" pitchFamily="34" charset="0"/>
              </a:rPr>
              <a:t>Final Conclusion &amp; Future Scope</a:t>
            </a:r>
          </a:p>
        </p:txBody>
      </p:sp>
      <p:sp>
        <p:nvSpPr>
          <p:cNvPr id="3" name="Content Placeholder 2">
            <a:extLst>
              <a:ext uri="{FF2B5EF4-FFF2-40B4-BE49-F238E27FC236}">
                <a16:creationId xmlns:a16="http://schemas.microsoft.com/office/drawing/2014/main" id="{192C2B0C-BA70-77A4-B425-C26182D50435}"/>
              </a:ext>
            </a:extLst>
          </p:cNvPr>
          <p:cNvSpPr>
            <a:spLocks noGrp="1"/>
          </p:cNvSpPr>
          <p:nvPr>
            <p:ph idx="1"/>
          </p:nvPr>
        </p:nvSpPr>
        <p:spPr>
          <a:ln>
            <a:solidFill>
              <a:srgbClr val="0070C0"/>
            </a:solidFill>
          </a:ln>
        </p:spPr>
        <p:txBody>
          <a:bodyPr>
            <a:normAutofit/>
          </a:bodyPr>
          <a:lstStyle/>
          <a:p>
            <a:r>
              <a:rPr lang="en-IN" sz="1800" u="sng" dirty="0">
                <a:latin typeface="Bahnschrift" panose="020B0502040204020203" pitchFamily="34" charset="0"/>
              </a:rPr>
              <a:t>Conclusion:</a:t>
            </a:r>
          </a:p>
          <a:p>
            <a:pPr marL="0" indent="0">
              <a:buNone/>
            </a:pPr>
            <a:endParaRPr lang="en-IN" sz="1800" dirty="0">
              <a:latin typeface="Bahnschrift" panose="020B0502040204020203" pitchFamily="34" charset="0"/>
            </a:endParaRPr>
          </a:p>
        </p:txBody>
      </p:sp>
      <p:sp>
        <p:nvSpPr>
          <p:cNvPr id="5" name="TextBox 4">
            <a:extLst>
              <a:ext uri="{FF2B5EF4-FFF2-40B4-BE49-F238E27FC236}">
                <a16:creationId xmlns:a16="http://schemas.microsoft.com/office/drawing/2014/main" id="{E2D91E1F-7C02-6042-96A8-7D3FA3AE13B7}"/>
              </a:ext>
            </a:extLst>
          </p:cNvPr>
          <p:cNvSpPr txBox="1"/>
          <p:nvPr/>
        </p:nvSpPr>
        <p:spPr>
          <a:xfrm>
            <a:off x="1065007" y="2506532"/>
            <a:ext cx="6723529" cy="3647152"/>
          </a:xfrm>
          <a:prstGeom prst="rect">
            <a:avLst/>
          </a:prstGeom>
          <a:noFill/>
          <a:ln>
            <a:solidFill>
              <a:srgbClr val="00B050"/>
            </a:solidFill>
          </a:ln>
        </p:spPr>
        <p:txBody>
          <a:bodyPr wrap="square" rtlCol="0">
            <a:spAutoFit/>
          </a:bodyPr>
          <a:lstStyle/>
          <a:p>
            <a:pPr algn="l">
              <a:buFont typeface="Arial" panose="020B0604020202020204" pitchFamily="34" charset="0"/>
              <a:buChar char="•"/>
            </a:pPr>
            <a:r>
              <a:rPr lang="en-US" sz="1100" b="0" i="0" dirty="0">
                <a:solidFill>
                  <a:srgbClr val="000000"/>
                </a:solidFill>
                <a:effectLst/>
                <a:latin typeface="Bahnschrift" panose="020B0502040204020203" pitchFamily="34" charset="0"/>
              </a:rPr>
              <a:t>Though '</a:t>
            </a:r>
            <a:r>
              <a:rPr lang="en-US" sz="1100" b="0" i="0" dirty="0" err="1">
                <a:solidFill>
                  <a:srgbClr val="000000"/>
                </a:solidFill>
                <a:effectLst/>
                <a:latin typeface="Bahnschrift" panose="020B0502040204020203" pitchFamily="34" charset="0"/>
              </a:rPr>
              <a:t>Organization_Type</a:t>
            </a:r>
            <a:r>
              <a:rPr lang="en-US" sz="1100" b="0" i="0" dirty="0">
                <a:solidFill>
                  <a:srgbClr val="000000"/>
                </a:solidFill>
                <a:effectLst/>
                <a:latin typeface="Bahnschrift" panose="020B0502040204020203" pitchFamily="34" charset="0"/>
              </a:rPr>
              <a:t>' seems to be an important column because it sometimes helps the loan approver think whether to approve loan or not based on the knowledge of income in the current market industry.</a:t>
            </a:r>
          </a:p>
          <a:p>
            <a:pPr algn="l">
              <a:buFont typeface="Arial" panose="020B0604020202020204" pitchFamily="34" charset="0"/>
              <a:buChar char="•"/>
            </a:pPr>
            <a:r>
              <a:rPr lang="en-US" sz="1100" b="0" i="0" dirty="0">
                <a:solidFill>
                  <a:srgbClr val="000000"/>
                </a:solidFill>
                <a:effectLst/>
                <a:latin typeface="Bahnschrift" panose="020B0502040204020203" pitchFamily="34" charset="0"/>
              </a:rPr>
              <a:t>Here some features have been dropped from the </a:t>
            </a:r>
            <a:r>
              <a:rPr lang="en-US" sz="1100" b="0" i="0" dirty="0" err="1">
                <a:solidFill>
                  <a:srgbClr val="000000"/>
                </a:solidFill>
                <a:effectLst/>
                <a:latin typeface="Bahnschrift" panose="020B0502040204020203" pitchFamily="34" charset="0"/>
              </a:rPr>
              <a:t>datafrae</a:t>
            </a:r>
            <a:r>
              <a:rPr lang="en-US" sz="1100" b="0" i="0" dirty="0">
                <a:solidFill>
                  <a:srgbClr val="000000"/>
                </a:solidFill>
                <a:effectLst/>
                <a:latin typeface="Bahnschrift" panose="020B0502040204020203" pitchFamily="34" charset="0"/>
              </a:rPr>
              <a:t> based on intuition and assumption but technically some hypothesis testing could have been done(Chi-Square Test) in order to understand which categorical features are independent.</a:t>
            </a:r>
          </a:p>
          <a:p>
            <a:pPr algn="l">
              <a:buFont typeface="Arial" panose="020B0604020202020204" pitchFamily="34" charset="0"/>
              <a:buChar char="•"/>
            </a:pPr>
            <a:r>
              <a:rPr lang="en-US" sz="1100" b="0" i="0" dirty="0">
                <a:solidFill>
                  <a:srgbClr val="000000"/>
                </a:solidFill>
                <a:effectLst/>
                <a:latin typeface="Bahnschrift" panose="020B0502040204020203" pitchFamily="34" charset="0"/>
              </a:rPr>
              <a:t>As we have Income information, so as of now I am deleting the 'ORGANIZATION_TYPE' attribute as it has a lot of categories, so after one hot encoding it might create a lot of variables which is not desirable.</a:t>
            </a:r>
          </a:p>
          <a:p>
            <a:pPr algn="l">
              <a:buFont typeface="Arial" panose="020B0604020202020204" pitchFamily="34" charset="0"/>
              <a:buChar char="•"/>
            </a:pPr>
            <a:r>
              <a:rPr lang="en-US" sz="1100" b="0" i="0" dirty="0">
                <a:solidFill>
                  <a:srgbClr val="000000"/>
                </a:solidFill>
                <a:effectLst/>
                <a:latin typeface="Bahnschrift" panose="020B0502040204020203" pitchFamily="34" charset="0"/>
              </a:rPr>
              <a:t>If the person :</a:t>
            </a:r>
          </a:p>
          <a:p>
            <a:pPr marL="742950" lvl="1" indent="-285750" algn="l">
              <a:buFont typeface="Arial" panose="020B0604020202020204" pitchFamily="34" charset="0"/>
              <a:buChar char="•"/>
            </a:pPr>
            <a:r>
              <a:rPr lang="en-US" sz="1100" b="0" i="0" dirty="0">
                <a:solidFill>
                  <a:srgbClr val="000000"/>
                </a:solidFill>
                <a:effectLst/>
                <a:latin typeface="Bahnschrift" panose="020B0502040204020203" pitchFamily="34" charset="0"/>
              </a:rPr>
              <a:t>has taken cash loan.</a:t>
            </a:r>
          </a:p>
          <a:p>
            <a:pPr marL="742950" lvl="1" indent="-285750" algn="l">
              <a:buFont typeface="Arial" panose="020B0604020202020204" pitchFamily="34" charset="0"/>
              <a:buChar char="•"/>
            </a:pPr>
            <a:r>
              <a:rPr lang="en-US" sz="1100" b="0" i="0" dirty="0">
                <a:solidFill>
                  <a:srgbClr val="000000"/>
                </a:solidFill>
                <a:effectLst/>
                <a:latin typeface="Bahnschrift" panose="020B0502040204020203" pitchFamily="34" charset="0"/>
              </a:rPr>
              <a:t>isn't a car owner.</a:t>
            </a:r>
          </a:p>
          <a:p>
            <a:pPr marL="742950" lvl="1" indent="-285750" algn="l">
              <a:buFont typeface="Arial" panose="020B0604020202020204" pitchFamily="34" charset="0"/>
              <a:buChar char="•"/>
            </a:pPr>
            <a:r>
              <a:rPr lang="en-US" sz="1100" b="0" i="0" dirty="0">
                <a:solidFill>
                  <a:srgbClr val="000000"/>
                </a:solidFill>
                <a:effectLst/>
                <a:latin typeface="Bahnschrift" panose="020B0502040204020203" pitchFamily="34" charset="0"/>
              </a:rPr>
              <a:t>is owner of a realty.</a:t>
            </a:r>
          </a:p>
          <a:p>
            <a:pPr marL="742950" lvl="1" indent="-285750" algn="l">
              <a:buFont typeface="Arial" panose="020B0604020202020204" pitchFamily="34" charset="0"/>
              <a:buChar char="•"/>
            </a:pPr>
            <a:r>
              <a:rPr lang="en-US" sz="1100" b="0" i="0" dirty="0">
                <a:solidFill>
                  <a:srgbClr val="000000"/>
                </a:solidFill>
                <a:effectLst/>
                <a:latin typeface="Bahnschrift" panose="020B0502040204020203" pitchFamily="34" charset="0"/>
              </a:rPr>
              <a:t>is unaccompanied at the time of taking loan.</a:t>
            </a:r>
          </a:p>
          <a:p>
            <a:pPr marL="742950" lvl="1" indent="-285750" algn="l">
              <a:buFont typeface="Arial" panose="020B0604020202020204" pitchFamily="34" charset="0"/>
              <a:buChar char="•"/>
            </a:pPr>
            <a:r>
              <a:rPr lang="en-US" sz="1100" b="0" i="0" dirty="0">
                <a:solidFill>
                  <a:srgbClr val="000000"/>
                </a:solidFill>
                <a:effectLst/>
                <a:latin typeface="Bahnschrift" panose="020B0502040204020203" pitchFamily="34" charset="0"/>
              </a:rPr>
              <a:t>lies under pensioner group.</a:t>
            </a:r>
          </a:p>
          <a:p>
            <a:pPr marL="742950" lvl="1" indent="-285750" algn="l">
              <a:buFont typeface="Arial" panose="020B0604020202020204" pitchFamily="34" charset="0"/>
              <a:buChar char="•"/>
            </a:pPr>
            <a:r>
              <a:rPr lang="en-US" sz="1100" b="0" i="0" dirty="0">
                <a:solidFill>
                  <a:srgbClr val="000000"/>
                </a:solidFill>
                <a:effectLst/>
                <a:latin typeface="Bahnschrift" panose="020B0502040204020203" pitchFamily="34" charset="0"/>
              </a:rPr>
              <a:t>having education level till secondary/secondary special or higher education.</a:t>
            </a:r>
          </a:p>
          <a:p>
            <a:pPr marL="742950" lvl="1" indent="-285750" algn="l">
              <a:buFont typeface="Arial" panose="020B0604020202020204" pitchFamily="34" charset="0"/>
              <a:buChar char="•"/>
            </a:pPr>
            <a:r>
              <a:rPr lang="en-US" sz="1100" b="0" i="0" dirty="0">
                <a:solidFill>
                  <a:srgbClr val="000000"/>
                </a:solidFill>
                <a:effectLst/>
                <a:latin typeface="Bahnschrift" panose="020B0502040204020203" pitchFamily="34" charset="0"/>
              </a:rPr>
              <a:t>owner of house/apartments(being highest in terms of median income).</a:t>
            </a:r>
          </a:p>
          <a:p>
            <a:pPr marL="742950" lvl="1" indent="-285750" algn="l">
              <a:buFont typeface="Arial" panose="020B0604020202020204" pitchFamily="34" charset="0"/>
              <a:buChar char="•"/>
            </a:pPr>
            <a:r>
              <a:rPr lang="en-US" sz="1100" b="0" i="0" dirty="0">
                <a:solidFill>
                  <a:srgbClr val="000000"/>
                </a:solidFill>
                <a:effectLst/>
                <a:latin typeface="Bahnschrift" panose="020B0502040204020203" pitchFamily="34" charset="0"/>
              </a:rPr>
              <a:t>or living with partners(with lowest median income) being second highest of defaulters.</a:t>
            </a:r>
          </a:p>
          <a:p>
            <a:pPr marL="742950" lvl="1" indent="-285750" algn="l">
              <a:buFont typeface="Arial" panose="020B0604020202020204" pitchFamily="34" charset="0"/>
              <a:buChar char="•"/>
            </a:pPr>
            <a:r>
              <a:rPr lang="en-US" sz="1100" b="0" i="0" dirty="0">
                <a:solidFill>
                  <a:srgbClr val="000000"/>
                </a:solidFill>
                <a:effectLst/>
                <a:latin typeface="Bahnschrift" panose="020B0502040204020203" pitchFamily="34" charset="0"/>
              </a:rPr>
              <a:t>also if his/her permanent address and contact address is matching</a:t>
            </a:r>
          </a:p>
          <a:p>
            <a:pPr marL="742950" lvl="1" indent="-285750" algn="l">
              <a:buFont typeface="Arial" panose="020B0604020202020204" pitchFamily="34" charset="0"/>
              <a:buChar char="•"/>
            </a:pPr>
            <a:r>
              <a:rPr lang="en-US" sz="1100" b="0" i="0" dirty="0">
                <a:solidFill>
                  <a:srgbClr val="000000"/>
                </a:solidFill>
                <a:effectLst/>
                <a:latin typeface="Bahnschrift" panose="020B0502040204020203" pitchFamily="34" charset="0"/>
              </a:rPr>
              <a:t>comes under lowest 10 percentile of whole income</a:t>
            </a:r>
          </a:p>
          <a:p>
            <a:pPr marL="171450" indent="-171450" algn="l">
              <a:buFont typeface="Arial" panose="020B0604020202020204" pitchFamily="34" charset="0"/>
              <a:buChar char="•"/>
            </a:pPr>
            <a:r>
              <a:rPr lang="en-US" sz="1100" b="0" i="0" dirty="0">
                <a:solidFill>
                  <a:srgbClr val="000000"/>
                </a:solidFill>
                <a:effectLst/>
                <a:latin typeface="Bahnschrift" panose="020B0502040204020203" pitchFamily="34" charset="0"/>
              </a:rPr>
              <a:t>Then there is a chance for that person to be identified as a defaulter.</a:t>
            </a:r>
          </a:p>
          <a:p>
            <a:endParaRPr lang="en-IN" sz="1100" dirty="0">
              <a:latin typeface="Bahnschrift" panose="020B0502040204020203" pitchFamily="34" charset="0"/>
            </a:endParaRPr>
          </a:p>
        </p:txBody>
      </p:sp>
      <p:sp>
        <p:nvSpPr>
          <p:cNvPr id="6" name="TextBox 5">
            <a:extLst>
              <a:ext uri="{FF2B5EF4-FFF2-40B4-BE49-F238E27FC236}">
                <a16:creationId xmlns:a16="http://schemas.microsoft.com/office/drawing/2014/main" id="{E1CB4FEC-74B7-C364-BE45-5CDFB60EBFFC}"/>
              </a:ext>
            </a:extLst>
          </p:cNvPr>
          <p:cNvSpPr txBox="1"/>
          <p:nvPr/>
        </p:nvSpPr>
        <p:spPr>
          <a:xfrm>
            <a:off x="8015343" y="2506532"/>
            <a:ext cx="3000488" cy="2031325"/>
          </a:xfrm>
          <a:prstGeom prst="rect">
            <a:avLst/>
          </a:prstGeom>
          <a:noFill/>
          <a:ln>
            <a:solidFill>
              <a:srgbClr val="00B050"/>
            </a:solidFill>
          </a:ln>
        </p:spPr>
        <p:txBody>
          <a:bodyPr wrap="square" rtlCol="0">
            <a:spAutoFit/>
          </a:bodyPr>
          <a:lstStyle/>
          <a:p>
            <a:r>
              <a:rPr lang="en-IN" u="sng" dirty="0">
                <a:latin typeface="Bahnschrift" panose="020B0502040204020203" pitchFamily="34" charset="0"/>
              </a:rPr>
              <a:t>Future Scope:</a:t>
            </a:r>
          </a:p>
          <a:p>
            <a:pPr marL="285750" indent="-285750">
              <a:buFont typeface="Arial" panose="020B0604020202020204" pitchFamily="34" charset="0"/>
              <a:buChar char="•"/>
            </a:pPr>
            <a:r>
              <a:rPr lang="en-IN" dirty="0">
                <a:latin typeface="Bahnschrift" panose="020B0502040204020203" pitchFamily="34" charset="0"/>
              </a:rPr>
              <a:t>Hypothesis Testing</a:t>
            </a:r>
          </a:p>
          <a:p>
            <a:pPr marL="285750" indent="-285750">
              <a:buFont typeface="Arial" panose="020B0604020202020204" pitchFamily="34" charset="0"/>
              <a:buChar char="•"/>
            </a:pPr>
            <a:r>
              <a:rPr lang="en-IN" dirty="0">
                <a:latin typeface="Bahnschrift" panose="020B0502040204020203" pitchFamily="34" charset="0"/>
              </a:rPr>
              <a:t>PCA</a:t>
            </a:r>
          </a:p>
          <a:p>
            <a:pPr marL="285750" indent="-285750">
              <a:buFont typeface="Arial" panose="020B0604020202020204" pitchFamily="34" charset="0"/>
              <a:buChar char="•"/>
            </a:pPr>
            <a:r>
              <a:rPr lang="en-IN" dirty="0">
                <a:latin typeface="Bahnschrift" panose="020B0502040204020203" pitchFamily="34" charset="0"/>
              </a:rPr>
              <a:t>VIF Test</a:t>
            </a:r>
          </a:p>
          <a:p>
            <a:pPr marL="285750" indent="-285750">
              <a:buFont typeface="Arial" panose="020B0604020202020204" pitchFamily="34" charset="0"/>
              <a:buChar char="•"/>
            </a:pPr>
            <a:r>
              <a:rPr lang="en-IN" dirty="0">
                <a:latin typeface="Bahnschrift" panose="020B0502040204020203" pitchFamily="34" charset="0"/>
              </a:rPr>
              <a:t>Machine Learning application for predictive modelling</a:t>
            </a:r>
          </a:p>
        </p:txBody>
      </p:sp>
    </p:spTree>
    <p:extLst>
      <p:ext uri="{BB962C8B-B14F-4D97-AF65-F5344CB8AC3E}">
        <p14:creationId xmlns:p14="http://schemas.microsoft.com/office/powerpoint/2010/main" val="25102909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610</TotalTime>
  <Words>2954</Words>
  <Application>Microsoft Office PowerPoint</Application>
  <PresentationFormat>Widescreen</PresentationFormat>
  <Paragraphs>191</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Bahnschrift</vt:lpstr>
      <vt:lpstr>Calibri</vt:lpstr>
      <vt:lpstr>Calibri Light</vt:lpstr>
      <vt:lpstr>Helvetica Neue</vt:lpstr>
      <vt:lpstr>Wingdings</vt:lpstr>
      <vt:lpstr>Office Theme</vt:lpstr>
      <vt:lpstr>PowerPoint Presentation</vt:lpstr>
      <vt:lpstr>Credit EDA Assignment</vt:lpstr>
      <vt:lpstr>Dataset Description</vt:lpstr>
      <vt:lpstr>Approach of Exploratory Data Analysis</vt:lpstr>
      <vt:lpstr>Data Imbalance</vt:lpstr>
      <vt:lpstr>Univariate Analysis</vt:lpstr>
      <vt:lpstr>Univariate Analysis(Contd.)</vt:lpstr>
      <vt:lpstr>Univariate Analysis(Contd.)</vt:lpstr>
      <vt:lpstr>Bivariate Analysis between OCCUPATION_TYPE and AMT_INCOME_TOTAL</vt:lpstr>
      <vt:lpstr>Multivariate Analysis among OCCUPATION_TYPE, AMT_INCOME_TOTAL &amp; ‘TARGET’</vt:lpstr>
      <vt:lpstr>Handling the columns having 40 – 50 % null values</vt:lpstr>
      <vt:lpstr>Few points on merged dataset </vt:lpstr>
      <vt:lpstr>Columns having 50-60 percent and 60-70 percent null values</vt:lpstr>
      <vt:lpstr>Observation of univariate, bi-variate and multivariate non-null categorical features</vt:lpstr>
      <vt:lpstr>Observation of univariate, bi-variate and multivariate non-null categorical features</vt:lpstr>
      <vt:lpstr>Observation of univariate, bi-variate and multivariate non-null categorical features</vt:lpstr>
      <vt:lpstr>Analysis of Organization_Type</vt:lpstr>
      <vt:lpstr>Analysis of Numerical variables</vt:lpstr>
      <vt:lpstr>Analysis of Numerical variables</vt:lpstr>
      <vt:lpstr>Analysis of Numerical variables</vt:lpstr>
      <vt:lpstr>Analysis of Numerical variables</vt:lpstr>
      <vt:lpstr>Final Analysis and Conclusion</vt:lpstr>
      <vt:lpstr>Final Conclusion &amp; Future Scope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EDA Assignment</dc:title>
  <dc:creator>Rajdeep Saha</dc:creator>
  <cp:lastModifiedBy>Rajdeep Saha</cp:lastModifiedBy>
  <cp:revision>3</cp:revision>
  <dcterms:created xsi:type="dcterms:W3CDTF">2023-09-26T07:42:16Z</dcterms:created>
  <dcterms:modified xsi:type="dcterms:W3CDTF">2023-09-26T17:53:09Z</dcterms:modified>
</cp:coreProperties>
</file>